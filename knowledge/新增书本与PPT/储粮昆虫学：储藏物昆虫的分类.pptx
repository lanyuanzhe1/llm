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57" r:id="rId4"/>
    <p:sldId id="442" r:id="rId6"/>
    <p:sldId id="453" r:id="rId7"/>
    <p:sldId id="443" r:id="rId8"/>
    <p:sldId id="454" r:id="rId9"/>
    <p:sldId id="444" r:id="rId10"/>
    <p:sldId id="445" r:id="rId11"/>
    <p:sldId id="452" r:id="rId12"/>
    <p:sldId id="446" r:id="rId13"/>
    <p:sldId id="447" r:id="rId14"/>
    <p:sldId id="455" r:id="rId15"/>
    <p:sldId id="448" r:id="rId16"/>
    <p:sldId id="449" r:id="rId17"/>
    <p:sldId id="450" r:id="rId18"/>
    <p:sldId id="451" r:id="rId19"/>
    <p:sldId id="456" r:id="rId20"/>
    <p:sldId id="457" r:id="rId21"/>
    <p:sldId id="458" r:id="rId22"/>
    <p:sldId id="394" r:id="rId23"/>
    <p:sldId id="393" r:id="rId24"/>
    <p:sldId id="395" r:id="rId25"/>
    <p:sldId id="396" r:id="rId26"/>
    <p:sldId id="397" r:id="rId27"/>
    <p:sldId id="398" r:id="rId28"/>
    <p:sldId id="399" r:id="rId29"/>
    <p:sldId id="400" r:id="rId30"/>
    <p:sldId id="429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437" r:id="rId39"/>
    <p:sldId id="438" r:id="rId40"/>
    <p:sldId id="439" r:id="rId41"/>
    <p:sldId id="440" r:id="rId42"/>
    <p:sldId id="441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57"/>
    <p:sldId id="459" r:id="rId58"/>
    <p:sldId id="460" r:id="rId59"/>
    <p:sldId id="415" r:id="rId60"/>
    <p:sldId id="416" r:id="rId61"/>
    <p:sldId id="417" r:id="rId62"/>
    <p:sldId id="418" r:id="rId63"/>
    <p:sldId id="419" r:id="rId64"/>
    <p:sldId id="421" r:id="rId65"/>
    <p:sldId id="420" r:id="rId66"/>
    <p:sldId id="423" r:id="rId67"/>
    <p:sldId id="422" r:id="rId68"/>
    <p:sldId id="424" r:id="rId69"/>
    <p:sldId id="425" r:id="rId70"/>
    <p:sldId id="426" r:id="rId71"/>
    <p:sldId id="427" r:id="rId72"/>
    <p:sldId id="428" r:id="rId73"/>
    <p:sldId id="363" r:id="rId7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4" autoAdjust="0"/>
    <p:restoredTop sz="94660"/>
  </p:normalViewPr>
  <p:slideViewPr>
    <p:cSldViewPr snapToGrid="0">
      <p:cViewPr varScale="1">
        <p:scale>
          <a:sx n="51" d="100"/>
          <a:sy n="51" d="100"/>
        </p:scale>
        <p:origin x="102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EF04C-98B5-4829-800D-C046025FEA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B9578-F4F2-4823-892D-BBAF4B992D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C2FA6F-DF84-40C8-B151-2A63D72004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C2FA6F-DF84-40C8-B151-2A63D72004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矩形 65"/>
          <p:cNvSpPr/>
          <p:nvPr/>
        </p:nvSpPr>
        <p:spPr>
          <a:xfrm>
            <a:off x="0" y="2266950"/>
            <a:ext cx="12192000" cy="2476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780612" y="3608361"/>
            <a:ext cx="5080907" cy="441947"/>
          </a:xfrm>
          <a:solidFill>
            <a:srgbClr val="293049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792406" y="2627086"/>
            <a:ext cx="7239940" cy="94507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 kern="1000" baseline="0">
                <a:solidFill>
                  <a:srgbClr val="293049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9" y="2208763"/>
            <a:ext cx="2608192" cy="2839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75644" y="235415"/>
            <a:ext cx="10377969" cy="79601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1800"/>
            </a:lvl2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2"/>
            <a:ext cx="7994651" cy="1235075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4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 hasCustomPrompt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 hasCustomPrompt="1"/>
          </p:nvPr>
        </p:nvSpPr>
        <p:spPr>
          <a:xfrm>
            <a:off x="6519334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9436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 hasCustomPrompt="1"/>
          </p:nvPr>
        </p:nvSpPr>
        <p:spPr>
          <a:xfrm>
            <a:off x="1099436" y="22002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31847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 hasCustomPrompt="1"/>
          </p:nvPr>
        </p:nvSpPr>
        <p:spPr>
          <a:xfrm>
            <a:off x="6431847" y="22002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2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>
          <a:xfrm>
            <a:off x="5487989" y="1063631"/>
            <a:ext cx="6172200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1144591" y="21336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1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>
          <a:xfrm>
            <a:off x="2113843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F:\0PPT素材\背景及图片\白麻子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3478"/>
          <a:stretch>
            <a:fillRect/>
          </a:stretch>
        </p:blipFill>
        <p:spPr bwMode="auto">
          <a:xfrm>
            <a:off x="0" y="-126365"/>
            <a:ext cx="12191999" cy="6857999"/>
          </a:xfrm>
          <a:prstGeom prst="rect">
            <a:avLst/>
          </a:prstGeom>
          <a:noFill/>
          <a:ln>
            <a:solidFill>
              <a:srgbClr val="1F497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直接连接符 25"/>
          <p:cNvCxnSpPr/>
          <p:nvPr userDrawn="1"/>
        </p:nvCxnSpPr>
        <p:spPr>
          <a:xfrm>
            <a:off x="789940" y="874395"/>
            <a:ext cx="11255375" cy="0"/>
          </a:xfrm>
          <a:prstGeom prst="line">
            <a:avLst/>
          </a:prstGeom>
          <a:noFill/>
          <a:ln w="15875" cap="flat" cmpd="sng" algn="ctr">
            <a:solidFill>
              <a:srgbClr val="FFC000"/>
            </a:solidFill>
            <a:prstDash val="solid"/>
          </a:ln>
          <a:effectLst/>
        </p:spPr>
      </p:cxnSp>
      <p:sp>
        <p:nvSpPr>
          <p:cNvPr id="2" name="五边形 1"/>
          <p:cNvSpPr/>
          <p:nvPr userDrawn="1"/>
        </p:nvSpPr>
        <p:spPr>
          <a:xfrm>
            <a:off x="0" y="180340"/>
            <a:ext cx="2769870" cy="535940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整体教学设计</a:t>
            </a:r>
            <a:endParaRPr lang="zh-CN" altLang="zh-CN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日期占位符 1"/>
          <p:cNvSpPr txBox="1"/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0820CF-B880-4189-942D-D702A7CBA730}" type="datetimeFigureOut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 userDrawn="1"/>
        </p:nvGraphicFramePr>
        <p:xfrm>
          <a:off x="0" y="1355463"/>
          <a:ext cx="1691680" cy="3873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05296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界定与表征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合理交通结构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影响因素辨识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干预对策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" name="直接连接符 10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1358722"/>
            <a:ext cx="1691680" cy="728261"/>
            <a:chOff x="0" y="1272662"/>
            <a:chExt cx="1691680" cy="788186"/>
          </a:xfrm>
        </p:grpSpPr>
        <p:sp>
          <p:nvSpPr>
            <p:cNvPr id="13" name="矩形 1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414455">
                <a:alpha val="89804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主要内容</a:t>
              </a:r>
              <a:endParaRPr lang="zh-CN" altLang="en-US" sz="2400" dirty="0"/>
            </a:p>
          </p:txBody>
        </p:sp>
        <p:sp>
          <p:nvSpPr>
            <p:cNvPr id="14" name="等腰三角形 1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6" name="文本框 15"/>
          <p:cNvSpPr txBox="1"/>
          <p:nvPr userDrawn="1"/>
        </p:nvSpPr>
        <p:spPr>
          <a:xfrm>
            <a:off x="2210764" y="50928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绪论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568D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整体教学设计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6993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绪 论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18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7" name="组合 2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568D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绪 论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6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18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18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568D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2017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0" dirty="0">
                <a:latin typeface="黑体" panose="02010609060101010101" pitchFamily="49" charset="-122"/>
                <a:ea typeface="黑体" panose="02010609060101010101" pitchFamily="49" charset="-122"/>
              </a:rPr>
              <a:t>研究方法与思路</a:t>
            </a:r>
            <a:endParaRPr lang="zh-CN" altLang="en-US" sz="36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3668" y="2079006"/>
            <a:ext cx="1696206" cy="788186"/>
            <a:chOff x="2257770" y="1738764"/>
            <a:chExt cx="1696206" cy="788186"/>
          </a:xfrm>
        </p:grpSpPr>
        <p:grpSp>
          <p:nvGrpSpPr>
            <p:cNvPr id="27" name="组合 26"/>
            <p:cNvGrpSpPr/>
            <p:nvPr userDrawn="1"/>
          </p:nvGrpSpPr>
          <p:grpSpPr>
            <a:xfrm>
              <a:off x="2257770" y="1738764"/>
              <a:ext cx="1691680" cy="788186"/>
              <a:chOff x="0" y="1272662"/>
              <a:chExt cx="1691680" cy="788186"/>
            </a:xfrm>
            <a:solidFill>
              <a:srgbClr val="0070C0"/>
            </a:solidFill>
          </p:grpSpPr>
          <p:sp>
            <p:nvSpPr>
              <p:cNvPr id="28" name="矩形 27"/>
              <p:cNvSpPr/>
              <p:nvPr userDrawn="1"/>
            </p:nvSpPr>
            <p:spPr>
              <a:xfrm>
                <a:off x="0" y="1272662"/>
                <a:ext cx="1691680" cy="788186"/>
              </a:xfrm>
              <a:prstGeom prst="rect">
                <a:avLst/>
              </a:prstGeom>
              <a:solidFill>
                <a:srgbClr val="568D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研究方法与思路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等腰三角形 28"/>
              <p:cNvSpPr/>
              <p:nvPr userDrawn="1"/>
            </p:nvSpPr>
            <p:spPr>
              <a:xfrm rot="16200000">
                <a:off x="1547664" y="1594748"/>
                <a:ext cx="144016" cy="14401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20" name="等腰三角形 19"/>
            <p:cNvSpPr/>
            <p:nvPr userDrawn="1"/>
          </p:nvSpPr>
          <p:spPr>
            <a:xfrm rot="16200000">
              <a:off x="3809960" y="2082116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8D1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关键技术与难点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8D1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研究成果与应用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8D1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研究成果与应用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3105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论文总结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</a:fld>
            <a:endParaRPr lang="zh-CN" altLang="en-US" sz="1800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  <a:solidFill>
            <a:srgbClr val="568D11"/>
          </a:solidFill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1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1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F:\0PPT素材\背景及图片\白麻子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3478"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ln>
            <a:solidFill>
              <a:srgbClr val="1F497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直接连接符 25"/>
          <p:cNvCxnSpPr/>
          <p:nvPr userDrawn="1"/>
        </p:nvCxnSpPr>
        <p:spPr>
          <a:xfrm>
            <a:off x="789940" y="874395"/>
            <a:ext cx="11255375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olid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4198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4198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4198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38200" y="1133475"/>
            <a:ext cx="10852859" cy="521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8033" y="184040"/>
            <a:ext cx="10377969" cy="796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grpSp>
        <p:nvGrpSpPr>
          <p:cNvPr id="18" name="组合 5"/>
          <p:cNvGrpSpPr/>
          <p:nvPr/>
        </p:nvGrpSpPr>
        <p:grpSpPr bwMode="auto">
          <a:xfrm>
            <a:off x="234950" y="285750"/>
            <a:ext cx="700336" cy="563563"/>
            <a:chOff x="5075564" y="2933562"/>
            <a:chExt cx="2860947" cy="2302753"/>
          </a:xfrm>
        </p:grpSpPr>
        <p:sp>
          <p:nvSpPr>
            <p:cNvPr id="19" name="等腰三角形 18"/>
            <p:cNvSpPr/>
            <p:nvPr/>
          </p:nvSpPr>
          <p:spPr>
            <a:xfrm rot="10800000">
              <a:off x="5075564" y="2933562"/>
              <a:ext cx="2671864" cy="2302753"/>
            </a:xfrm>
            <a:prstGeom prst="triangle">
              <a:avLst/>
            </a:prstGeom>
            <a:solidFill>
              <a:schemeClr val="tx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6229913" y="3770338"/>
              <a:ext cx="1705585" cy="1465977"/>
            </a:xfrm>
            <a:prstGeom prst="triangle">
              <a:avLst/>
            </a:prstGeom>
            <a:solidFill>
              <a:srgbClr val="FFDE01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293049"/>
          </a:solidFill>
          <a:effectLst/>
          <a:latin typeface="+mj-ea"/>
          <a:ea typeface="+mj-ea"/>
          <a:cs typeface="+mj-cs"/>
        </a:defRPr>
      </a:lvl1pPr>
    </p:titleStyle>
    <p:bodyStyle>
      <a:lvl1pPr marL="361950" indent="-361950" algn="just" defTabSz="6858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50000"/>
        <a:buFont typeface="Wingdings 3" panose="05040102010807070707" pitchFamily="18" charset="2"/>
        <a:buChar char="p"/>
        <a:defRPr lang="zh-CN" altLang="en-US" sz="2800" kern="1200" baseline="0" dirty="0" smtClean="0">
          <a:solidFill>
            <a:schemeClr val="accent1">
              <a:lumMod val="75000"/>
            </a:schemeClr>
          </a:solidFill>
          <a:latin typeface="+mn-ea"/>
          <a:ea typeface="+mn-ea"/>
          <a:cs typeface="+mn-cs"/>
        </a:defRPr>
      </a:lvl1pPr>
      <a:lvl2pPr marL="361950" indent="-361950" algn="just" defTabSz="6858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8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9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0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1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3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4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5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6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7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8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19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0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1.xml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3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24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25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6.xml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27.xml"/><Relationship Id="rId1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8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0.xml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1.xml"/><Relationship Id="rId1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2.xml"/><Relationship Id="rId1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33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34.xml"/><Relationship Id="rId2" Type="http://schemas.microsoft.com/office/2007/relationships/hdphoto" Target="../media/image53.wdp"/><Relationship Id="rId1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5.xml"/><Relationship Id="rId1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6.xml"/><Relationship Id="rId1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37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38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39.xml"/><Relationship Id="rId1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0.xml"/><Relationship Id="rId1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7.xml"/><Relationship Id="rId6" Type="http://schemas.openxmlformats.org/officeDocument/2006/relationships/tags" Target="../tags/tag4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42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43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4.xml"/><Relationship Id="rId1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5.xml"/><Relationship Id="rId1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46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7.xml"/><Relationship Id="rId5" Type="http://schemas.openxmlformats.org/officeDocument/2006/relationships/tags" Target="../tags/tag47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8.xml"/><Relationship Id="rId1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49.xml"/><Relationship Id="rId1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0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1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2.xml"/><Relationship Id="rId1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3.xml"/><Relationship Id="rId1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4.xml"/><Relationship Id="rId1" Type="http://schemas.openxmlformats.org/officeDocument/2006/relationships/image" Target="../media/image8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5.xml"/><Relationship Id="rId1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56.xml"/><Relationship Id="rId1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57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8.xml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tags" Target="../tags/tag59.xml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60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1.xml"/><Relationship Id="rId1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6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7.xml"/><Relationship Id="rId5" Type="http://schemas.openxmlformats.org/officeDocument/2006/relationships/tags" Target="../tags/tag63.xml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4.xml"/><Relationship Id="rId1" Type="http://schemas.openxmlformats.org/officeDocument/2006/relationships/image" Target="../media/image10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5.xml"/><Relationship Id="rId1" Type="http://schemas.openxmlformats.org/officeDocument/2006/relationships/image" Target="../media/image10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6.xml"/><Relationship Id="rId1" Type="http://schemas.openxmlformats.org/officeDocument/2006/relationships/image" Target="../media/image10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67.xml"/><Relationship Id="rId1" Type="http://schemas.openxmlformats.org/officeDocument/2006/relationships/image" Target="../media/image110.png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7.xml"/><Relationship Id="rId6" Type="http://schemas.openxmlformats.org/officeDocument/2006/relationships/tags" Target="../tags/tag68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6130" y="2595245"/>
            <a:ext cx="7595870" cy="944880"/>
          </a:xfrm>
        </p:spPr>
        <p:txBody>
          <a:bodyPr/>
          <a:lstStyle/>
          <a:p>
            <a:r>
              <a:rPr lang="zh-CN" altLang="en-US" sz="4000" b="0" dirty="0">
                <a:latin typeface="方正粗黑宋简体" panose="02000000000000000000" charset="-122"/>
                <a:ea typeface="方正粗黑宋简体" panose="02000000000000000000" charset="-122"/>
              </a:rPr>
              <a:t>储藏物昆虫的分类学</a:t>
            </a:r>
            <a:endParaRPr lang="zh-CN" sz="4000" b="0" dirty="0"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295455" y="1248723"/>
            <a:ext cx="6801119" cy="4471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（十一）隐食甲科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Cryptophagidae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3.0 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长椭圆形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卵圆形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，淡黄色、褐色至暗褐色。背方稍隆起，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密生细毛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。头前口式，触角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节（极少数种类末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节或末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节）形成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前胸背板侧缘多具齿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。前足基节球形，略突出，基节窝后方开放；各足基节左右分离；跗节形式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，有的种类雄虫为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。鞘翅遮盖腹部末端。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1245" y="1028700"/>
            <a:ext cx="4305300" cy="4800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82049" y="629725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显隐食甲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808677"/>
            <a:ext cx="7418001" cy="61335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（十一）隐食甲科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Cryptophagidae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前胸背板前角增厚，呈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斜截状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，侧缘中央或近中央有一侧齿。鉴定种的重要依据有：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复眼的大小及形状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，前胸背板前角、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侧齿及侧缘的形状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，前胸背板及鞘翅上刻点的大小及密度，刚毛的形状以及雄虫的外生殖器等。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隐食甲科昆虫全世界记述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600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余种，国内储藏物中记述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种。成虫和幼虫多发现于发霉的植物性和动物性储藏物内，在植物的花内、真菌内、树皮下以及在蚁类、蜂类、鸟类乃至小型哺乳动物的巢穴内也有发生。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676" y="1052512"/>
            <a:ext cx="3629025" cy="5248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990864"/>
            <a:ext cx="7741850" cy="39175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（十一）隐食甲科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Cryptophagidae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生活于房舍、地下室及仓库内的种类并不直接危害人类的储藏品，而是取食这些储藏物上滋生出来的真菌菌丝和孢子，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它们的存在表明储藏条件欠佳，湿度太大，已有发霉的物质存在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国内储藏物中较常见的种类有黄圆隐食甲、尖角隐食甲和腐隐食甲等。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01" y="990864"/>
            <a:ext cx="3099923" cy="487020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82049" y="629725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克氏隐食甲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990864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（十一）隐食甲科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Cryptophagidae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548" y="2060666"/>
            <a:ext cx="3692187" cy="44434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67" y="2060666"/>
            <a:ext cx="2805221" cy="444341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808677"/>
            <a:ext cx="7741850" cy="57365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（十二）大蕈甲科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Erotylidae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小型至中型甲虫，体长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36mm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。多为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黑色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具红黄色花斑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。多数背面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光裸无毛，有光泽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。头前口式，缩入前胸至眼部。触角着生于额两侧，复眼之前，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多为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节（少数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节）。上唇与额愈合。复眼着生于头部两侧，小至中等大小，通常呈圆形。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前胸背板比头部宽，近方形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。前足基节窝后方封闭；前足及中足基节球形，后足基节三角形，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对足的左右基节均分离：跗节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式，第四节通常小，前三节宽而下面着生毛；爪简单。鞘翅完全遮盖腹部，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末端圆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，行间通常疏布刻点。腹部可见腹板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节，通常第一和第五腹板较大。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12981" y="585766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二纹大蕈甲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209" y="1049368"/>
            <a:ext cx="3588544" cy="4808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52194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（十二）大蕈甲科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Erotylidae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幼虫多生活于土壤内及植物组织或肉质的菌体内，或腐败的木屑内，或发生于大量菌丝滋生的储藏物内。成虫将卵产于真菌上，幼虫取食肉质的真菌汁液。成虫多栖息于树皮下或原木下。室内种类多发生于中药材和土特产仓库内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2600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种。广泛分布于热带和亚热带，国内储藏物中较常见的有凹黄大蕈甲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Dacne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japonica Crotch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2-33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）和二纹大蕈甲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D.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picta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Crotch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82049" y="629725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凹黄大蕈甲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906" y="1265186"/>
            <a:ext cx="3557646" cy="483081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5658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（十二）大蕈甲科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Erotylidae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462" y="1912806"/>
            <a:ext cx="4224338" cy="34492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89081" y="544650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无斑蕈甲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15" y="1912806"/>
            <a:ext cx="5110398" cy="34492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22002" y="559552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红斑蕈甲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5658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（十二）大蕈甲科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Erotylidae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60581" y="587345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橙红蕈甲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76" y="1912806"/>
            <a:ext cx="4696274" cy="3982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1969686"/>
            <a:ext cx="6028144" cy="390376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78831" y="597971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蓝斑蕈甲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46232" y="1399227"/>
            <a:ext cx="7256076" cy="44253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（十三）拟叩甲科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Languriidae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小型至中型甲虫，体长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1.2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25mm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。长椭圆形，头前口式；触角着生于头两侧位于复眼之前和上颚基部，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节，较短，末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节形成触角棒。下颚端部有毛束，分内外两叶，外叶较大。跗节式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，第三节扩张，第四节微小。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708" y="1277343"/>
            <a:ext cx="3886200" cy="5229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135325" y="961077"/>
            <a:ext cx="7160826" cy="57365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（十三）拟叩甲科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Languriidae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900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种，隶属于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个属。对于该科的分类地位，争议颇多，有的著作中将该科归入隐食甲科有的归入大蕈甲科。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国内储藏物中较常见的有褐蕈甲和黑带蕈甲，它们在储藏物中主要取食真菌类，对储藏物不造成明显的危害。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2874" y="961077"/>
            <a:ext cx="3619500" cy="5705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135325" y="961077"/>
            <a:ext cx="7160826" cy="732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（十三）拟叩甲科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Languriidae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96151" y="5527591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四拟叩甲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123" y="1909902"/>
            <a:ext cx="4578102" cy="30381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82238" y="620173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安拟叩甲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25" y="1902206"/>
            <a:ext cx="3708014" cy="4090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52194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（十四）薪甲科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Lathrididae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0.8~3.0mm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。倒卵形，背面隆起或扁平，光裸或被茸毛，淡褐色至近黑色。头前口式，横宽，唇基与额不在同一平面上。复眼大而突出，近圆形；或复眼极退化，仅由几个小眼面组成。触角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节，触角棒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节，前胸背板宽于头部，窄于鞘翅，背方扁平或隆起，或具各种隆脊或凹陷；两侧圆弧形，具细齿突，或侧缘宽阔平展，两鞘翅分离或愈合，遮盖腹末。后翅发达，缀生短的缘毛，个别种类后翅退化。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12981" y="597677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缩颈薪甲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468" y="1041124"/>
            <a:ext cx="2957513" cy="477575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808677"/>
            <a:ext cx="7414540" cy="57365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（十四）薪甲科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Lathrididae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小盾片小，三角形。腹部有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5~6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可见腹板，前足基节圆锥形突出，左右相接或几乎相接，或球形而左右远离。前足基节窝后方封闭，中胸后侧片不伸达中足基节窝。后足基节不突出而左右远离。前足基节窝后方封闭，中胸后侧片不伸达中足基节窝，后足基节不突出，左右远离。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3—3—3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，有的雄虫为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2—3—3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2—2—3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，各节长，爪简单。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成虫和幼虫取食真菌孢子和菌丝，通常栖息于发霉的物质中，在霉变的食物、谷物及腐烂的植物性物质中经常发现，在室外多发现于枯枝落叶下及草垛下。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12981" y="585766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大眼薪甲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3912" y="1133475"/>
            <a:ext cx="2657475" cy="4591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808677"/>
            <a:ext cx="7414540" cy="59027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（十四）薪甲科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Lathrididae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该科昆虫全世界已记载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种。国内储藏物中发现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种，较常见的种类有东方薪甲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Migneauxia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orientalis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Reitter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、缩颈薪甲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Cartodere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constricla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Gyllenhal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），四行薪甲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Thes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bergrothi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Reitter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）、湿薪甲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Lathridius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minutus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）、红颈薪甲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Dienerella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ruficollis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Marsham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）和麻腹薪甲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Cartodere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elegans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Aube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2-35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91562" y="585766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东方薪甲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845" y="1166918"/>
            <a:ext cx="2866136" cy="452416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47023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（十五）扁薪甲科（拟薪甲科）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Merophysiidae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小型甲虫，体长多为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1.0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1.5mm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。椭圆形，黄褐色至赤褐色，背面光滑，有光泽。触角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节，触角棒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节；唇基与额位于同一平面，额唇基沟浅而不明显；下唇须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节。前足基节窝后方开放，后足转节长为宽的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倍以上。鞘翅光滑，每翅仅有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条与翅缝靠近且与之平行的陷线。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幼虫与成虫一起生活于霉粮及其他腐败的植物性物质中，有的种类与蚂蚁在一起共生。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8162" y="1077811"/>
            <a:ext cx="3343275" cy="5381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1077811"/>
            <a:ext cx="7271485" cy="5164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（十五）扁薪甲科（拟薪甲科）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Merophysiidae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90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种。过去某些著作中多将该科并入薪甲科而作为一个亚料，即全薪甲亚科（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Holoparamecinae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）。国内储藏物中发现全薪甲属（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Holoparamecus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个种，即扁薪甲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Holoparamecus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depressus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Curtis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2-36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）、椭圆薪甲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ellipticus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Wollaston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和头角薪甲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signatus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Wollaston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1" y="926157"/>
            <a:ext cx="3529012" cy="5871458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9760" y="982561"/>
            <a:ext cx="7271485" cy="732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（十五）扁薪甲科（拟薪甲科）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Merophysiidae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815" y="1888505"/>
            <a:ext cx="7824788" cy="484234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（十六）小蕈甲科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Mycetophagidae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多为小型甲虫，体长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6.0 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长椭圆形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至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卵圆形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，体表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密生细毛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黄褐色、褐色至近黑色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，有的种类鞘翅上具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橘黄色或红色花斑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。触角着生于复眼之前及额的侧緣下方，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节形成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。鞘翅遮盖腹末。腹部可见腹板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节，第一腹板的前方呈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三角形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，伸达后足基节之间。各足的左右基节靠近，前足基节卵圆形，侧斜，稍突出，前足基节窝后方开放。雌虫的跗节形式为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4—4—4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，雄虫为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3—4—4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49" y="1524000"/>
            <a:ext cx="3896345" cy="47185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11513750" cy="2255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（十六）小蕈甲科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Mycetophagidae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该科昆虫全世界记述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余种，分属于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个属，广泛分布于全北区。成虫、幼虫生活于树皮下以及仓库和居室内，以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取食真菌为主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，也兼食潮湿的谷物，极个别种类取食松树的花粉。国内储藏物中发现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种，其中以小蕈甲（毛蕈甲）最为常见。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3589625"/>
            <a:ext cx="7439072" cy="313774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437" y="3681703"/>
            <a:ext cx="2252663" cy="306418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。椭圆形至卵圆形。触角末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节膨大形成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。下顎须末节非常小，几乎呈锥状；或在小圆甲属（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Murmidius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，口器下方被前胸的突起遮盖。前足基节小，球形，不突出，左右基节的间距明显大于基节的宽度。前胸背板横宽，扁平，两侧向前缢缩，向后有时稍缢缩。腹部第一至三节腹板愈合，第一腹板上有从后足基节窝内缘发出的腿节线或凹窝。跗节式通常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4—4—4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，爪简单。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1409699"/>
            <a:ext cx="3817550" cy="491068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国内储藏物中发现的有小圆甲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Murmidius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ovalis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Beck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2-38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）和红黑小圆甲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M.stoicus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Hinton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两种。这两种在国内有些文献中多归入邻坚甲科（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Murmididae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），在有的著作中归入坚甲科（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Colydidae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）。但据最新的研究报道，认为邻坚甲科应作为亚科（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Murmidinae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）归入拟坚甲科。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该科的种类多发现于霉粮中，对储藏物不造成明显的危害。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024" y="1012822"/>
            <a:ext cx="3556676" cy="553043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91" y="1995487"/>
            <a:ext cx="4462810" cy="42375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95487"/>
            <a:ext cx="4237558" cy="42375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69063" y="6233045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赤拟谷盗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985379" y="6265706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杂拟谷盗</a:t>
            </a:r>
            <a:endParaRPr lang="zh-CN" altLang="en-US" sz="2400" b="1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583" y="1606382"/>
            <a:ext cx="9497899" cy="495793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00" y="1606381"/>
            <a:ext cx="3272197" cy="519596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035" y="1606379"/>
            <a:ext cx="2790825" cy="511651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934" y="1606379"/>
            <a:ext cx="2919413" cy="511651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（十七）拟坚甲科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Cerylonidae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00" y="1810527"/>
            <a:ext cx="3166202" cy="4970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123" y="1810527"/>
            <a:ext cx="2927621" cy="4950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47" y="1810527"/>
            <a:ext cx="3166202" cy="485705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（十八）蚁形甲科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Anthicidae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2~5mm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。体形似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蚂蚁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，细长，褐色或黑色，有的种类具暗色或淡色花斑。头大，前口式，基部缢缩呈颈状；复眼圆形或卵圆形；触角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节，丝状，着生于额的两侧，两复眼之前。前胸显著窄于鞘翅基部，部分种类前胸延伸形成角状突。鞘翅遮盖腹末，或有时腹末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1~2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节背板外露。腹部可见腹板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节。前足基节圆锥形突出，基节窝后方多开放；跗节形式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，端前节通常呈双叶状。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312" y="1462087"/>
            <a:ext cx="4041388" cy="44667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54442" y="5945486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四斑蚁形甲</a:t>
            </a:r>
            <a:endParaRPr lang="zh-CN" altLang="en-US" sz="2400" b="1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（十八）蚁形甲科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Anthicidae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这类昆虫主要为腐食性，取食腐殖质、霉菌和昆虫尸体，偶尔也捕食小的节肢动物。成虫和幼虫多生活于腐殖质中，野外发现于石块下、砂质土壤中、树木的花和叶子上、近小溪和湖泊处枯枝落叶层内。少数种类生活于储藏物内，主要在粮食下脚内，不直接危害储藏物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种，广布于全世界。国内较常见的种类有谷蚊形甲及三点独角甲等。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1245" y="1800224"/>
            <a:ext cx="4362953" cy="3819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54442" y="5945486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花纹形甲</a:t>
            </a:r>
            <a:endParaRPr lang="zh-CN" altLang="en-US" sz="2400" b="1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（十八）蚁形甲科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Anthicidae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0126" y="5845178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二色蚁形甲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4" y="2005012"/>
            <a:ext cx="4891431" cy="36147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88289"/>
            <a:ext cx="4891431" cy="395688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96000" y="6125207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黑蚁形甲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（十八）蚁形甲科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Anthicidae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0126" y="6125206"/>
            <a:ext cx="3858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灰斑蚁形甲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6125207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长蚁形甲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75" y="1958426"/>
            <a:ext cx="4403874" cy="38867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323" y="1958426"/>
            <a:ext cx="3935745" cy="388675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（十九）拟步甲科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Tenebrionidae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大型甲虫，体形不一，一般呈长形略扁，但各个类群变异很大。体壁坚硬，多为黑色，也有暗褐色、赤褐色或具花斑者；表皮平滑或有粗刻点、颗粒及脊纹等刻饰。头小，口器发达，上颚强壮。触角着生于头的侧下方，多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节，较短，棍棒状或近念珠状，少数种类呈丝状；触角棒多由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节组成，有的种类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节或更多节。颊正常或向外方扩张，以至或多或少将眼切割。复眼位于头的两侧，一部分折在头下，前缘凹，呈肾形。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688" y="1176430"/>
            <a:ext cx="3599762" cy="525232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（十九）拟步甲科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Tenebrionidae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前胸背板大小和形状不一。足粗而长，平滑或着生刺、齿；跗节形式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，爪简单。鞘翅一般遮盖腹末端，某些种类两鞘翅愈合，不能活动。腹部可见腹板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节腹板往往相互愈合而不能活动，有的种类在第三、第四及第四、第五节间有光亮的节间膜。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幼虫体长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5~40mm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，圆简状，背面骨化强，呈黄色、褐色或近于黑色。有胸足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对，尾端通常有臀突，腹末节腹面常有伪足状突起。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0062" y="1209674"/>
            <a:ext cx="3233738" cy="51594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（十九）拟步甲科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Tenebrionidae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本科种类一般夜间活动，有假死习性。多为植食性，常以腐败物、粪便、种子、谷物、中药材及蕈类等为食，许多种类生活于多种储藏物。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拟步甲科是一个大科，迄今全世界记述约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万种。国内记述约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种，与储藏物有关的种类近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种，较常见的种类有赤拟谷盗、杂拟谷盗、姬粉盗、亚扁粉盗、长头谷盗、黑粉虫、黑菌虫、小菌虫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leavigatus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Fabricius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）和二带黑菌虫等。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6237" y="1190625"/>
            <a:ext cx="3624263" cy="53701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（十九）拟步甲科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Tenebrionidae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26" y="2038350"/>
            <a:ext cx="3114675" cy="430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34" y="2038350"/>
            <a:ext cx="2756247" cy="430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882" y="2058742"/>
            <a:ext cx="3968719" cy="428490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8107" y="5746459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足彩伪叶甲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（二十）木蕈甲科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小型甲虫，体长由不足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，多数为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1~2mm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。体厚，呈圆简状，长形至卵圆形。表皮褐色至沥青色，被粗短而直立的鳞片状毛。头前口式，卵圆形，部分或全部隐于前胸背板之下；额脊明显，额面布有粗大刻点；触角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8~10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节形成松散的触角棒，着生于复眼与上颚基部之间。前胸背板极大，约与鞘翅基部等宽，有缘边，表面有皱纹刻点。雄虫的头部和前胸背板前缘有时有叶状、齿状、角状或瘤状突。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-1" r="60289"/>
          <a:stretch>
            <a:fillRect/>
          </a:stretch>
        </p:blipFill>
        <p:spPr>
          <a:xfrm>
            <a:off x="8296095" y="1257610"/>
            <a:ext cx="2962455" cy="505186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（二十）木蕈甲科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足较短；前足基节横卵圆形，中足基节圆锥形，后足基节横形，各足基节均左右分离；转节小，横三角形；腿节膨大；胫节细而具刺，无端距；跗节形式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4—4—4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3—3—3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），第一至三节短，末节长。小盾片小，不明显、鞘翅覆盖腹末，末端倾斜，圆形，行间布皱纹刻点。腹部可见腹板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成虫和幼虫群集生活于蕈类及腐木中，也常栖息于小蠹虫的坑道内，为典型的食菌性甲虫。一些种类发现于中药材仓库内，可对中药材造成严重危害。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5493" y="1538341"/>
            <a:ext cx="2962913" cy="505402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274945" cy="2809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（二十）木蕈甲科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Ciidae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该科全世界迄今记载约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550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种，分属于约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个属。我国仓库内发现多种，如中华木蕈甲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Cis chinensis Lawrence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、铲状木蕈甲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C.seriatopilosus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Motschulsky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）等，该科有许多近缘种，鉴定较为困难。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643" y="1295363"/>
            <a:ext cx="2962913" cy="505402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1" y="1012822"/>
            <a:ext cx="6370250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（二十一）粉蠹科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Lyctidae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1~7mm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。身体细长而扁平，两侧平行，黄色、红褐色、暗褐色至近黑色，体表被毛或鳞片状毛。头下口式，倾斜突出，不被前胸背板遮盖；复眼大面突出；触角短，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节膨大形成触角棒。胸部发达，前胸背板多呈近方形。前足基节窝封闭，前足左右基节相接，后足左右基节远离。跗节形式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，第一节短。鞘翅遮盖腹部末端。腹部腹板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节，第一腹板长。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1" y="1463669"/>
            <a:ext cx="2738614" cy="49958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697" y="1463669"/>
            <a:ext cx="2831296" cy="499589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4731950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（二十一）粉蠹科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Lyctidae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该科昆虫全世界记述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余种，分属于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个属。成虫和幼虫多生活于木材和竹材内，为多种建筑材、家具材和加工材的重要害虫。国内储藏物中发现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种，较常见的有鳞毛粉蠹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Minthea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rugicollis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Walker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、中华粉蠹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Lyctus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sinensis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Lesne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242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）和褐粉蠹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L.brunneus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Stephens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3795" y="1655076"/>
            <a:ext cx="2834072" cy="47320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867" y="1560424"/>
            <a:ext cx="2698036" cy="492134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（二十二）长蠹科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Bostrychidae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小型至大型昆虫，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体厚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，一般呈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长圆简状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，赤褐色、暗褐色至黑褐色。头下口式，隐于前胸背板之下，背面观不可见。触角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9~11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节，短而直，着生于复眼之前，末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3~4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膨大成触角棒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。前胸背板光滑或粗糙，在后一种情况下前半部往往具多数锉状齿列。足短，前足基节窝开放，前足基节球形或圆锥形突出，左右基节相接；胫节着生距；跗节形式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，第一节多数短小，第二、第五节长。鞘翅光滑或布刻点，后端圆隆或斜削而形成截形的斜面，有的种类斜面上着生齿突。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2093069"/>
            <a:ext cx="4035364" cy="321823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640926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（二十二）长蠹科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Bostrychidae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余种，多发生于热带或亚热带，蛀食危害木材、竹器、谷物、薯干和其他一些植物的储藏根茎。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国内记载与储藏物有关的种类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谷蠹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、竹蠹、日本竹蠹等都是较常见的储藏物害虫，其中谷囊是我国主要的储粮害虫之一，可对多种原粮造成严重危害。该科的大谷蠹是我国的对外检疫危险性害虫，目前在国内尚未发现。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810" y="1012822"/>
            <a:ext cx="3440096" cy="5616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640926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（二十二）长蠹科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Bostrychidae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2684" y="1193427"/>
            <a:ext cx="3293016" cy="541265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34" y="1810527"/>
            <a:ext cx="4129647" cy="30533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81" y="1852000"/>
            <a:ext cx="3468168" cy="3011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33" y="4888149"/>
            <a:ext cx="2970585" cy="1879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685" y="4905303"/>
            <a:ext cx="3630353" cy="195828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640926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（二十二）长蠹科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Bostrychidae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" y="1702321"/>
            <a:ext cx="8685714" cy="414285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14" y="808677"/>
            <a:ext cx="3438442" cy="562099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017984" y="5968011"/>
            <a:ext cx="423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大谷蠹在非洲的分布图</a:t>
            </a:r>
            <a:endParaRPr lang="zh-CN" altLang="en-US" sz="2400" b="1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640926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（二十二）长蠹科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Bostrychidae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5844" y="6183435"/>
            <a:ext cx="273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二突异翅长蠹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71" y="1810527"/>
            <a:ext cx="2966935" cy="4126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72" y="1810526"/>
            <a:ext cx="3061670" cy="41265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787" y="1810526"/>
            <a:ext cx="3564679" cy="412659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916213" y="6141269"/>
            <a:ext cx="273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日本双棘长蠹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59732" y="6141268"/>
            <a:ext cx="273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日本竹蠹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622620" y="1450378"/>
            <a:ext cx="6026134" cy="4471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（二十三）窃蠹科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Anobidae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小型至中型昆虫，体长小于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10mm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。体厚，呈圆简形、卵圆形或椭圆形，触角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锅齿状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梳齿状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棒状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，着生于头的两侧。头下口式，前胸背板呈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风帽状遮盖头部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，前胸腹板短。腹部可见腹板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节，约等长。跗节形式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，前足基节球形，后足基节斜形。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005" y="1271925"/>
            <a:ext cx="3359187" cy="4828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4471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（二十三）窃蠹科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Anobidae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该科全世界记述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余种，分属于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亚科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160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余属。从食性上大致可分为食木材及食菌两大类。一些食木材的种类又演化为取食植物的种子、干燥的动物性物质及书籍等，成为经济意义更重要的一个类群。国内储藏物中记载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种，较常见的种类有烟草甲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Lasioderma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serricorne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Fabricius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）、药材甲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Stegobium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paniceum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）和大理窃蠹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Ptilineurus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marmoratus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Reitter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1056" y="1269256"/>
            <a:ext cx="3224314" cy="512307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（二十三）窃蠹科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Anobidae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159" y="1309602"/>
            <a:ext cx="3137372" cy="517486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40" y="1950852"/>
            <a:ext cx="6382402" cy="4507959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>
          <a:xfrm rot="8469795">
            <a:off x="8826228" y="1064421"/>
            <a:ext cx="992222" cy="50092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8318306" y="3646570"/>
            <a:ext cx="992222" cy="50092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300" y="1012822"/>
            <a:ext cx="774185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（二十三）窃蠹科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Anobidae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7" y="1877730"/>
            <a:ext cx="3083569" cy="3672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3774"/>
          <a:stretch>
            <a:fillRect/>
          </a:stretch>
        </p:blipFill>
        <p:spPr>
          <a:xfrm>
            <a:off x="8923456" y="1877729"/>
            <a:ext cx="3083569" cy="36725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r="5048"/>
          <a:stretch>
            <a:fillRect/>
          </a:stretch>
        </p:blipFill>
        <p:spPr>
          <a:xfrm>
            <a:off x="3423328" y="2020595"/>
            <a:ext cx="2774005" cy="33868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57"/>
          <a:stretch>
            <a:fillRect/>
          </a:stretch>
        </p:blipFill>
        <p:spPr>
          <a:xfrm>
            <a:off x="6473039" y="2020595"/>
            <a:ext cx="2450417" cy="338683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075542" y="5821642"/>
            <a:ext cx="273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大理窃蠹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58150" y="5821641"/>
            <a:ext cx="273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栉角窃蠹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757657" cy="4471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（二十四）蛛甲科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小型昆虫，体长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2~5 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，体似蜘蛛，长卵圆形或卵圆形，背方隆起。头下口式，大部分隐于前胸背板之下；触角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丝状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，多为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节。前胸背板宽大于或等于头宽，有的种类在近基部缢缩。小盾片明显或十分退化。鞘翅远较前胸宽，端部圆，遮盖腹部。足细长，前足基节窝开放；各足腿节细长，端部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膨大，呈棒状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。腹部有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节可见腹板，少数种类减少至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3~4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351" y="1134418"/>
            <a:ext cx="3954017" cy="5441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757657" cy="4471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（二十四）蛛甲科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该科昆虫迄今全世界已记述约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570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种，世界广泛分布。成虫、幼虫取食多种动物和植物性物质，部分种类生活于家庭居室和仓库内，也有的生活于鸟、兽的巢穴中。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国内记载与储藏物有关的种类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种。较常见的种类有拟裸蛛甲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Gibbium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aequinoctiale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Boieldieu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、日本蛛甲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Ptinus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japonicus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Reitter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）和褐蛛甲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Pseudeurostus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hilleri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Reitter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306" y="1516602"/>
            <a:ext cx="3766355" cy="4471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757657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（二十四）蛛甲科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396" y="1776482"/>
            <a:ext cx="3552381" cy="4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6" y="1776482"/>
            <a:ext cx="3358712" cy="462146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757657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（二十四）蛛甲科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Ptinidae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288" y="1810527"/>
            <a:ext cx="3096764" cy="46291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159" y="1810527"/>
            <a:ext cx="2887594" cy="461107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小型昆虫，体长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10mm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体厚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，多数呈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卵圆形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，少数长椭圆形或近方形，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身体各部密接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。体壁黑色或暗褐色，有时呈赭黄色、淡红色或黄色，颜色单一或具花斑，被倒伏状细毛。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头稍延伸呈短吻状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，下口式，在静止状态下紧贴于前胸及中胸腹板；复眼前方凹缘，在多数种类凹缘极深，使复眼变成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马蹄形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；触角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节，侧扁，除基部几节外其余各节多扩展成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锯齿状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梳齿状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，少数种类触角近丝状，着生于复眼凹缘的开口处。前胸背板圆锥形、梯形或半圆形。每鞘翅有纵行纹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条，行间和行纹内散布刻点。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299" y="1586824"/>
            <a:ext cx="3793551" cy="440541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（二十五）天牛科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Cerambycidae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中型至大型昆虫。长椭圆形，少数种类卵圆形。复眼多呈肾形。上颚粗壮。触角着生于額的突起上，细长，呈鞭状，多由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节组成。前胸背板两侧的缘边有或无。鞘翅坚硬，端缘圆形、平截或斜凹切。各足的胫节均有端距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个；跗节形式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，第三节双叶状，第四节微小。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幼虫身体粗壮，长圆简形，略扁。头常缩入前胸，前胸节最大，足发达或退化。幼虫在树干内蛀食，形成隧道。极少数种类，如家茸天牛，有时将卵产于粮食、面粉和食品中，并可在其中顺利地完成发育。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550" y="1533524"/>
            <a:ext cx="3465522" cy="4067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72550" y="584835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橡黑花天牛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73449" y="1184272"/>
            <a:ext cx="6503601" cy="39175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（二十五）天牛科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Cerambycidae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该科全世界已知种类达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万种以上，我国已知种超过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种，仅极少数可在仓内危害。与储藏物有关的种类有家茸天牛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Trichoferus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campestris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Faldermann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）、拟蜡天牛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Stenygrinum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quadrinotatum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Bates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和咖啡灭字虎天牛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Xylotrechus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quadripes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Chevrolat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087" y="1184272"/>
            <a:ext cx="4688281" cy="462597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58200" y="6001179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拟蜡天牛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臀板大而外露，在某些类群，除臀板之外还有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节背板外露。腹部可见腹板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节，第一和第五腹板较长。前足及中足腿节细；后足腿节粗而扁，在腹面形成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1~2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条纵隆脊，隆脊上通常着生齿或齿列。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豆象科昆虫目前全世界记述约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1400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种，分属于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个属，广布于除南极之外的世界各大陆，尤其以亚洲的热带区以及中美和南美的数量最多。该科昆虫大约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84%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的种类取食豆科植物种子，成为栽培豆科植物的一类重要害虫；另一些种类危害椰子、棕榈核仁及旋花科、梧桐科等植物的种子。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243" y="1444759"/>
            <a:ext cx="3210127" cy="500503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该科国内储藏物中记载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种，其中绿豆象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Callosobruchus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chinensis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Linnacus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）、蚕豆象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rufimanus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Boheman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和豌豆象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B.pisorum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）为我国主要的储藏豆类害虫；而鹰嘴豆象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analis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Fabricius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）、灰豆象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C.phaseoli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Chevrolate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）、莱豆象（大豆象）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Acanthoscelides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obtectus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Say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）和巴西豆象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Zabrotes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subfasciatus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Boheman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）为我国规定禁止入境的检疫性害虫。。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243" y="1197008"/>
            <a:ext cx="3346314" cy="52431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r="59061"/>
          <a:stretch>
            <a:fillRect/>
          </a:stretch>
        </p:blipFill>
        <p:spPr>
          <a:xfrm>
            <a:off x="790126" y="2055880"/>
            <a:ext cx="3082437" cy="42476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191" y="1972657"/>
            <a:ext cx="2711727" cy="44140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423" y="2020406"/>
            <a:ext cx="2711727" cy="43663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02" y="1547597"/>
            <a:ext cx="4497265" cy="526941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813" y="1256186"/>
            <a:ext cx="4167335" cy="5560828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664" y="1767686"/>
            <a:ext cx="3238702" cy="4792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9" y="1767686"/>
            <a:ext cx="3024188" cy="48354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543" y="1724845"/>
            <a:ext cx="3247174" cy="483546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（二十六）豆象科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Bruchidae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551" y="1810527"/>
            <a:ext cx="3266220" cy="483546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034" y="1802683"/>
            <a:ext cx="3108393" cy="48433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8068944" cy="55795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（二十七）长角象科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Anthribidae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小型至中型甲虫，体长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30 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。体长而扁平至卵圆形背方隆起。通常呈褐色，多数种类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被毛或鳞片状毛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。头大，下口式，常缩入前胸。触角长，多为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节多膨大，形成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叶片状的触角棒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（在少数触角十分长的种类，触角棒小或无，某些热带的种类触角棒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2~8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节）。前胸背板后方较宽，两侧有缘边，基部往往与鞘翅等宽。前足基节球形，基节窝后方封闭；中足基节球形；后足基节长，呈横形。跗节式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节双叶状，第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节极小，第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节长。鞘翅一般不达腹末，臀板端部外露。腹部可见板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590" y="1759265"/>
            <a:ext cx="3670110" cy="444436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54399" y="724461"/>
            <a:ext cx="5493951" cy="61335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（二十七）长角象科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Anthribidae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幼虫弯弓式或亚圆简状，长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12mm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，在腹部中央处最宽。足短或无足。栖息于木质部或蛀食种子，有的食花粉或真菌。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长角象科全世界已记述约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种，多产于热带地区。国内储藏物中仅发现咖啡豆象一种（长角咖啡象），为我国主要的储粮害虫之一，可严重危害储藏中的咖啡豆、玉米、薯干、干果和中药材等。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4" r="6495"/>
          <a:stretch>
            <a:fillRect/>
          </a:stretch>
        </p:blipFill>
        <p:spPr>
          <a:xfrm>
            <a:off x="9220199" y="1371897"/>
            <a:ext cx="2800351" cy="4761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846" y="1371897"/>
            <a:ext cx="3352797" cy="500558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298340" y="947142"/>
            <a:ext cx="11595320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（二十七）长角象科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Anthribidae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343" y="1852009"/>
            <a:ext cx="3881735" cy="3943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69" y="1971667"/>
            <a:ext cx="3693303" cy="36138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14" y="1977033"/>
            <a:ext cx="3693302" cy="184665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14" y="3823684"/>
            <a:ext cx="3186086" cy="279629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570401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（二十八）象甲科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Curculionidae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该科昆虫小至大型，体长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～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70mm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。主要特征是头部的额和唇基区延伸成象鼻状的喙，外咽缝合并为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条或消失；触角膝状，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8~9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节，柄节长，棒头明显；口器位于喙的前端，无上唇；下颚须及下唇须退化而僵直，不能弯曲。跗节形式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5—5—5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，第四节小，隐于双叶状的第三节内。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本科为鞘翅目的大科之一，据估计，全世界已记述的种类超过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万种，遍及世界各地。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0" y="1421668"/>
            <a:ext cx="3889585" cy="515766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589451" cy="5025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（二十八）象甲科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Curculionidae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象甲科的昆虫通常称为象鼻虫或象虫（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weevil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），均为植食性。多数种类取食生长的作物或树木及植物的根、茎、叶、花、果实和种子，仅少数种类危害储藏物。国内储藏物中记载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种，较常见的米象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Sitophilus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oryzae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）、玉米象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S.zeamais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Motschulsky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和谷象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S.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granarius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Linnaeus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）（图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2-49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）是世界性分布的储粮大害虫，其中玉米象是我国头号储粮害虫，可严重危害各种禾谷类原粮和其他多种储藏物。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537" y="1296742"/>
            <a:ext cx="3233715" cy="519930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589451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（二十八）象甲科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Curculionidae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694" y="1810527"/>
            <a:ext cx="10658655" cy="361361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95844" y="5845178"/>
            <a:ext cx="10367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刻点圆形                                             刻点纵向椭圆形，没有后翅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589451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（二十八）象甲科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Curculionidae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872" y="1606382"/>
            <a:ext cx="8710928" cy="530758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316299" y="1012822"/>
            <a:ext cx="7589451" cy="593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72009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（二十八）象甲科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  <a:t>Curculionidae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50" name="五边形 1"/>
          <p:cNvSpPr/>
          <p:nvPr/>
        </p:nvSpPr>
        <p:spPr>
          <a:xfrm>
            <a:off x="790126" y="130629"/>
            <a:ext cx="6801119" cy="678048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第三节  储藏物昆虫的分类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25" y="1810527"/>
            <a:ext cx="3762825" cy="24355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24" y="4379704"/>
            <a:ext cx="3762825" cy="24133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660" y="4379704"/>
            <a:ext cx="3762825" cy="23921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84" y="1818766"/>
            <a:ext cx="3761905" cy="24190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196" y="1810526"/>
            <a:ext cx="3077122" cy="496135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26734"/>
            <a:ext cx="12132733" cy="24553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幼圆"/>
              <a:cs typeface="+mn-cs"/>
            </a:endParaRPr>
          </a:p>
        </p:txBody>
      </p:sp>
      <p:sp>
        <p:nvSpPr>
          <p:cNvPr id="7" name="MH_Entry_1">
            <a:hlinkClick r:id="rId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43496" y="2876099"/>
            <a:ext cx="4445740" cy="746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>
                <a:latin typeface="+mn-ea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谢谢！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TIMING" val="|0|1.6"/>
</p:tagLst>
</file>

<file path=ppt/tags/tag2.xml><?xml version="1.0" encoding="utf-8"?>
<p:tagLst xmlns:p="http://schemas.openxmlformats.org/presentationml/2006/main">
  <p:tag name="TIMING" val="|0|1.6"/>
</p:tagLst>
</file>

<file path=ppt/tags/tag3.xml><?xml version="1.0" encoding="utf-8"?>
<p:tagLst xmlns:p="http://schemas.openxmlformats.org/presentationml/2006/main">
  <p:tag name="TIMING" val="|0|1.6"/>
</p:tagLst>
</file>

<file path=ppt/tags/tag4.xml><?xml version="1.0" encoding="utf-8"?>
<p:tagLst xmlns:p="http://schemas.openxmlformats.org/presentationml/2006/main">
  <p:tag name="TIMING" val="|0|1.6"/>
</p:tagLst>
</file>

<file path=ppt/tags/tag5.xml><?xml version="1.0" encoding="utf-8"?>
<p:tagLst xmlns:p="http://schemas.openxmlformats.org/presentationml/2006/main">
  <p:tag name="TIMING" val="|0|1.6"/>
</p:tagLst>
</file>

<file path=ppt/tags/tag6.xml><?xml version="1.0" encoding="utf-8"?>
<p:tagLst xmlns:p="http://schemas.openxmlformats.org/presentationml/2006/main">
  <p:tag name="TIMING" val="|0|1.6"/>
</p:tagLst>
</file>

<file path=ppt/tags/tag7.xml><?xml version="1.0" encoding="utf-8"?>
<p:tagLst xmlns:p="http://schemas.openxmlformats.org/presentationml/2006/main">
  <p:tag name="TIMING" val="|0|1.6"/>
</p:tagLst>
</file>

<file path=ppt/tags/tag8.xml><?xml version="1.0" encoding="utf-8"?>
<p:tagLst xmlns:p="http://schemas.openxmlformats.org/presentationml/2006/main">
  <p:tag name="TIMING" val="|0|1.6"/>
</p:tagLst>
</file>

<file path=ppt/tags/tag9.xml><?xml version="1.0" encoding="utf-8"?>
<p:tagLst xmlns:p="http://schemas.openxmlformats.org/presentationml/2006/main">
  <p:tag name="TIMING" val="|0|1.6"/>
</p:tagLst>
</file>

<file path=ppt/tags/tag10.xml><?xml version="1.0" encoding="utf-8"?>
<p:tagLst xmlns:p="http://schemas.openxmlformats.org/presentationml/2006/main">
  <p:tag name="TIMING" val="|0|1.6"/>
</p:tagLst>
</file>

<file path=ppt/tags/tag11.xml><?xml version="1.0" encoding="utf-8"?>
<p:tagLst xmlns:p="http://schemas.openxmlformats.org/presentationml/2006/main">
  <p:tag name="TIMING" val="|0|1.6"/>
</p:tagLst>
</file>

<file path=ppt/tags/tag12.xml><?xml version="1.0" encoding="utf-8"?>
<p:tagLst xmlns:p="http://schemas.openxmlformats.org/presentationml/2006/main">
  <p:tag name="TIMING" val="|0|1.6"/>
</p:tagLst>
</file>

<file path=ppt/tags/tag13.xml><?xml version="1.0" encoding="utf-8"?>
<p:tagLst xmlns:p="http://schemas.openxmlformats.org/presentationml/2006/main">
  <p:tag name="TIMING" val="|0|1.6"/>
</p:tagLst>
</file>

<file path=ppt/tags/tag14.xml><?xml version="1.0" encoding="utf-8"?>
<p:tagLst xmlns:p="http://schemas.openxmlformats.org/presentationml/2006/main">
  <p:tag name="TIMING" val="|0|1.6"/>
</p:tagLst>
</file>

<file path=ppt/tags/tag15.xml><?xml version="1.0" encoding="utf-8"?>
<p:tagLst xmlns:p="http://schemas.openxmlformats.org/presentationml/2006/main">
  <p:tag name="TIMING" val="|0|1.6"/>
</p:tagLst>
</file>

<file path=ppt/tags/tag16.xml><?xml version="1.0" encoding="utf-8"?>
<p:tagLst xmlns:p="http://schemas.openxmlformats.org/presentationml/2006/main">
  <p:tag name="TIMING" val="|0|1.6"/>
</p:tagLst>
</file>

<file path=ppt/tags/tag17.xml><?xml version="1.0" encoding="utf-8"?>
<p:tagLst xmlns:p="http://schemas.openxmlformats.org/presentationml/2006/main">
  <p:tag name="TIMING" val="|0|1.6"/>
</p:tagLst>
</file>

<file path=ppt/tags/tag18.xml><?xml version="1.0" encoding="utf-8"?>
<p:tagLst xmlns:p="http://schemas.openxmlformats.org/presentationml/2006/main">
  <p:tag name="TIMING" val="|0|1.6"/>
</p:tagLst>
</file>

<file path=ppt/tags/tag19.xml><?xml version="1.0" encoding="utf-8"?>
<p:tagLst xmlns:p="http://schemas.openxmlformats.org/presentationml/2006/main">
  <p:tag name="TIMING" val="|0|1.6"/>
</p:tagLst>
</file>

<file path=ppt/tags/tag20.xml><?xml version="1.0" encoding="utf-8"?>
<p:tagLst xmlns:p="http://schemas.openxmlformats.org/presentationml/2006/main">
  <p:tag name="TIMING" val="|0|1.6"/>
</p:tagLst>
</file>

<file path=ppt/tags/tag21.xml><?xml version="1.0" encoding="utf-8"?>
<p:tagLst xmlns:p="http://schemas.openxmlformats.org/presentationml/2006/main">
  <p:tag name="TIMING" val="|0|1.6"/>
</p:tagLst>
</file>

<file path=ppt/tags/tag22.xml><?xml version="1.0" encoding="utf-8"?>
<p:tagLst xmlns:p="http://schemas.openxmlformats.org/presentationml/2006/main">
  <p:tag name="TIMING" val="|0|1.6"/>
</p:tagLst>
</file>

<file path=ppt/tags/tag23.xml><?xml version="1.0" encoding="utf-8"?>
<p:tagLst xmlns:p="http://schemas.openxmlformats.org/presentationml/2006/main">
  <p:tag name="TIMING" val="|0|1.6"/>
</p:tagLst>
</file>

<file path=ppt/tags/tag24.xml><?xml version="1.0" encoding="utf-8"?>
<p:tagLst xmlns:p="http://schemas.openxmlformats.org/presentationml/2006/main">
  <p:tag name="TIMING" val="|0|1.6"/>
</p:tagLst>
</file>

<file path=ppt/tags/tag25.xml><?xml version="1.0" encoding="utf-8"?>
<p:tagLst xmlns:p="http://schemas.openxmlformats.org/presentationml/2006/main">
  <p:tag name="TIMING" val="|0|1.6"/>
</p:tagLst>
</file>

<file path=ppt/tags/tag26.xml><?xml version="1.0" encoding="utf-8"?>
<p:tagLst xmlns:p="http://schemas.openxmlformats.org/presentationml/2006/main">
  <p:tag name="TIMING" val="|0|1.6"/>
</p:tagLst>
</file>

<file path=ppt/tags/tag27.xml><?xml version="1.0" encoding="utf-8"?>
<p:tagLst xmlns:p="http://schemas.openxmlformats.org/presentationml/2006/main">
  <p:tag name="TIMING" val="|0|1.6"/>
</p:tagLst>
</file>

<file path=ppt/tags/tag28.xml><?xml version="1.0" encoding="utf-8"?>
<p:tagLst xmlns:p="http://schemas.openxmlformats.org/presentationml/2006/main">
  <p:tag name="TIMING" val="|0|1.6"/>
</p:tagLst>
</file>

<file path=ppt/tags/tag29.xml><?xml version="1.0" encoding="utf-8"?>
<p:tagLst xmlns:p="http://schemas.openxmlformats.org/presentationml/2006/main">
  <p:tag name="TIMING" val="|0|1.6"/>
</p:tagLst>
</file>

<file path=ppt/tags/tag30.xml><?xml version="1.0" encoding="utf-8"?>
<p:tagLst xmlns:p="http://schemas.openxmlformats.org/presentationml/2006/main">
  <p:tag name="TIMING" val="|0|1.6"/>
</p:tagLst>
</file>

<file path=ppt/tags/tag31.xml><?xml version="1.0" encoding="utf-8"?>
<p:tagLst xmlns:p="http://schemas.openxmlformats.org/presentationml/2006/main">
  <p:tag name="TIMING" val="|0|1.6"/>
</p:tagLst>
</file>

<file path=ppt/tags/tag32.xml><?xml version="1.0" encoding="utf-8"?>
<p:tagLst xmlns:p="http://schemas.openxmlformats.org/presentationml/2006/main">
  <p:tag name="TIMING" val="|0|1.6"/>
</p:tagLst>
</file>

<file path=ppt/tags/tag33.xml><?xml version="1.0" encoding="utf-8"?>
<p:tagLst xmlns:p="http://schemas.openxmlformats.org/presentationml/2006/main">
  <p:tag name="TIMING" val="|0|1.6"/>
</p:tagLst>
</file>

<file path=ppt/tags/tag34.xml><?xml version="1.0" encoding="utf-8"?>
<p:tagLst xmlns:p="http://schemas.openxmlformats.org/presentationml/2006/main">
  <p:tag name="TIMING" val="|0|1.6"/>
</p:tagLst>
</file>

<file path=ppt/tags/tag35.xml><?xml version="1.0" encoding="utf-8"?>
<p:tagLst xmlns:p="http://schemas.openxmlformats.org/presentationml/2006/main">
  <p:tag name="TIMING" val="|0|1.6"/>
</p:tagLst>
</file>

<file path=ppt/tags/tag36.xml><?xml version="1.0" encoding="utf-8"?>
<p:tagLst xmlns:p="http://schemas.openxmlformats.org/presentationml/2006/main">
  <p:tag name="TIMING" val="|0|1.6"/>
</p:tagLst>
</file>

<file path=ppt/tags/tag37.xml><?xml version="1.0" encoding="utf-8"?>
<p:tagLst xmlns:p="http://schemas.openxmlformats.org/presentationml/2006/main">
  <p:tag name="TIMING" val="|0|1.6"/>
</p:tagLst>
</file>

<file path=ppt/tags/tag38.xml><?xml version="1.0" encoding="utf-8"?>
<p:tagLst xmlns:p="http://schemas.openxmlformats.org/presentationml/2006/main">
  <p:tag name="TIMING" val="|0|1.6"/>
</p:tagLst>
</file>

<file path=ppt/tags/tag39.xml><?xml version="1.0" encoding="utf-8"?>
<p:tagLst xmlns:p="http://schemas.openxmlformats.org/presentationml/2006/main">
  <p:tag name="TIMING" val="|0|1.6"/>
</p:tagLst>
</file>

<file path=ppt/tags/tag40.xml><?xml version="1.0" encoding="utf-8"?>
<p:tagLst xmlns:p="http://schemas.openxmlformats.org/presentationml/2006/main">
  <p:tag name="TIMING" val="|0|1.6"/>
</p:tagLst>
</file>

<file path=ppt/tags/tag41.xml><?xml version="1.0" encoding="utf-8"?>
<p:tagLst xmlns:p="http://schemas.openxmlformats.org/presentationml/2006/main">
  <p:tag name="TIMING" val="|0|1.6"/>
</p:tagLst>
</file>

<file path=ppt/tags/tag42.xml><?xml version="1.0" encoding="utf-8"?>
<p:tagLst xmlns:p="http://schemas.openxmlformats.org/presentationml/2006/main">
  <p:tag name="TIMING" val="|0|1.6"/>
</p:tagLst>
</file>

<file path=ppt/tags/tag43.xml><?xml version="1.0" encoding="utf-8"?>
<p:tagLst xmlns:p="http://schemas.openxmlformats.org/presentationml/2006/main">
  <p:tag name="TIMING" val="|0|1.6"/>
</p:tagLst>
</file>

<file path=ppt/tags/tag44.xml><?xml version="1.0" encoding="utf-8"?>
<p:tagLst xmlns:p="http://schemas.openxmlformats.org/presentationml/2006/main">
  <p:tag name="TIMING" val="|0|1.6"/>
</p:tagLst>
</file>

<file path=ppt/tags/tag45.xml><?xml version="1.0" encoding="utf-8"?>
<p:tagLst xmlns:p="http://schemas.openxmlformats.org/presentationml/2006/main">
  <p:tag name="TIMING" val="|0|1.6"/>
</p:tagLst>
</file>

<file path=ppt/tags/tag46.xml><?xml version="1.0" encoding="utf-8"?>
<p:tagLst xmlns:p="http://schemas.openxmlformats.org/presentationml/2006/main">
  <p:tag name="TIMING" val="|0|1.6"/>
</p:tagLst>
</file>

<file path=ppt/tags/tag47.xml><?xml version="1.0" encoding="utf-8"?>
<p:tagLst xmlns:p="http://schemas.openxmlformats.org/presentationml/2006/main">
  <p:tag name="TIMING" val="|0|1.6"/>
</p:tagLst>
</file>

<file path=ppt/tags/tag48.xml><?xml version="1.0" encoding="utf-8"?>
<p:tagLst xmlns:p="http://schemas.openxmlformats.org/presentationml/2006/main">
  <p:tag name="TIMING" val="|0|1.6"/>
</p:tagLst>
</file>

<file path=ppt/tags/tag49.xml><?xml version="1.0" encoding="utf-8"?>
<p:tagLst xmlns:p="http://schemas.openxmlformats.org/presentationml/2006/main">
  <p:tag name="TIMING" val="|0|1.6"/>
</p:tagLst>
</file>

<file path=ppt/tags/tag50.xml><?xml version="1.0" encoding="utf-8"?>
<p:tagLst xmlns:p="http://schemas.openxmlformats.org/presentationml/2006/main">
  <p:tag name="TIMING" val="|0|1.6"/>
</p:tagLst>
</file>

<file path=ppt/tags/tag51.xml><?xml version="1.0" encoding="utf-8"?>
<p:tagLst xmlns:p="http://schemas.openxmlformats.org/presentationml/2006/main">
  <p:tag name="TIMING" val="|0|1.6"/>
</p:tagLst>
</file>

<file path=ppt/tags/tag52.xml><?xml version="1.0" encoding="utf-8"?>
<p:tagLst xmlns:p="http://schemas.openxmlformats.org/presentationml/2006/main">
  <p:tag name="TIMING" val="|0|1.6"/>
</p:tagLst>
</file>

<file path=ppt/tags/tag53.xml><?xml version="1.0" encoding="utf-8"?>
<p:tagLst xmlns:p="http://schemas.openxmlformats.org/presentationml/2006/main">
  <p:tag name="TIMING" val="|0|1.6"/>
</p:tagLst>
</file>

<file path=ppt/tags/tag54.xml><?xml version="1.0" encoding="utf-8"?>
<p:tagLst xmlns:p="http://schemas.openxmlformats.org/presentationml/2006/main">
  <p:tag name="TIMING" val="|0|1.6"/>
</p:tagLst>
</file>

<file path=ppt/tags/tag55.xml><?xml version="1.0" encoding="utf-8"?>
<p:tagLst xmlns:p="http://schemas.openxmlformats.org/presentationml/2006/main">
  <p:tag name="TIMING" val="|0|1.6"/>
</p:tagLst>
</file>

<file path=ppt/tags/tag56.xml><?xml version="1.0" encoding="utf-8"?>
<p:tagLst xmlns:p="http://schemas.openxmlformats.org/presentationml/2006/main">
  <p:tag name="TIMING" val="|0|1.6"/>
</p:tagLst>
</file>

<file path=ppt/tags/tag57.xml><?xml version="1.0" encoding="utf-8"?>
<p:tagLst xmlns:p="http://schemas.openxmlformats.org/presentationml/2006/main">
  <p:tag name="TIMING" val="|0|1.6"/>
</p:tagLst>
</file>

<file path=ppt/tags/tag58.xml><?xml version="1.0" encoding="utf-8"?>
<p:tagLst xmlns:p="http://schemas.openxmlformats.org/presentationml/2006/main">
  <p:tag name="TIMING" val="|0|1.6"/>
</p:tagLst>
</file>

<file path=ppt/tags/tag59.xml><?xml version="1.0" encoding="utf-8"?>
<p:tagLst xmlns:p="http://schemas.openxmlformats.org/presentationml/2006/main">
  <p:tag name="TIMING" val="|0|1.6"/>
</p:tagLst>
</file>

<file path=ppt/tags/tag60.xml><?xml version="1.0" encoding="utf-8"?>
<p:tagLst xmlns:p="http://schemas.openxmlformats.org/presentationml/2006/main">
  <p:tag name="TIMING" val="|0|1.6"/>
</p:tagLst>
</file>

<file path=ppt/tags/tag61.xml><?xml version="1.0" encoding="utf-8"?>
<p:tagLst xmlns:p="http://schemas.openxmlformats.org/presentationml/2006/main">
  <p:tag name="TIMING" val="|0|1.6"/>
</p:tagLst>
</file>

<file path=ppt/tags/tag62.xml><?xml version="1.0" encoding="utf-8"?>
<p:tagLst xmlns:p="http://schemas.openxmlformats.org/presentationml/2006/main">
  <p:tag name="TIMING" val="|0|1.6"/>
</p:tagLst>
</file>

<file path=ppt/tags/tag63.xml><?xml version="1.0" encoding="utf-8"?>
<p:tagLst xmlns:p="http://schemas.openxmlformats.org/presentationml/2006/main">
  <p:tag name="TIMING" val="|0|1.6"/>
</p:tagLst>
</file>

<file path=ppt/tags/tag64.xml><?xml version="1.0" encoding="utf-8"?>
<p:tagLst xmlns:p="http://schemas.openxmlformats.org/presentationml/2006/main">
  <p:tag name="TIMING" val="|0|1.6"/>
</p:tagLst>
</file>

<file path=ppt/tags/tag65.xml><?xml version="1.0" encoding="utf-8"?>
<p:tagLst xmlns:p="http://schemas.openxmlformats.org/presentationml/2006/main">
  <p:tag name="TIMING" val="|0|1.6"/>
</p:tagLst>
</file>

<file path=ppt/tags/tag66.xml><?xml version="1.0" encoding="utf-8"?>
<p:tagLst xmlns:p="http://schemas.openxmlformats.org/presentationml/2006/main">
  <p:tag name="TIMING" val="|0|1.6"/>
</p:tagLst>
</file>

<file path=ppt/tags/tag67.xml><?xml version="1.0" encoding="utf-8"?>
<p:tagLst xmlns:p="http://schemas.openxmlformats.org/presentationml/2006/main">
  <p:tag name="TIMING" val="|0|1.6"/>
</p:tagLst>
</file>

<file path=ppt/tags/tag68.xml><?xml version="1.0" encoding="utf-8"?>
<p:tagLst xmlns:p="http://schemas.openxmlformats.org/presentationml/2006/main">
  <p:tag name="TIMING" val="|0|1.6"/>
</p:tagLst>
</file>

<file path=ppt/tags/tag69.xml><?xml version="1.0" encoding="utf-8"?>
<p:tagLst xmlns:p="http://schemas.openxmlformats.org/presentationml/2006/main">
  <p:tag name="MH" val="20170706211924"/>
  <p:tag name="MH_LIBRARY" val="CONTENTS"/>
  <p:tag name="MH_TYPE" val="ENTRY"/>
  <p:tag name="ID" val="545837"/>
  <p:tag name="MH_ORDER" val="1"/>
</p:tagLst>
</file>

<file path=ppt/theme/theme1.xml><?xml version="1.0" encoding="utf-8"?>
<a:theme xmlns:a="http://schemas.openxmlformats.org/drawingml/2006/main" name="A000120140530A99PPBG">
  <a:themeElements>
    <a:clrScheme name="自定义 771">
      <a:dk1>
        <a:srgbClr val="434547"/>
      </a:dk1>
      <a:lt1>
        <a:srgbClr val="FFFFFF"/>
      </a:lt1>
      <a:dk2>
        <a:srgbClr val="414345"/>
      </a:dk2>
      <a:lt2>
        <a:srgbClr val="F4F5F7"/>
      </a:lt2>
      <a:accent1>
        <a:srgbClr val="FFBF2B"/>
      </a:accent1>
      <a:accent2>
        <a:srgbClr val="E7A139"/>
      </a:accent2>
      <a:accent3>
        <a:srgbClr val="A3C95F"/>
      </a:accent3>
      <a:accent4>
        <a:srgbClr val="6BB599"/>
      </a:accent4>
      <a:accent5>
        <a:srgbClr val="72A4B6"/>
      </a:accent5>
      <a:accent6>
        <a:srgbClr val="C00000"/>
      </a:accent6>
      <a:hlink>
        <a:srgbClr val="00B0F0"/>
      </a:hlink>
      <a:folHlink>
        <a:srgbClr val="AFB2B4"/>
      </a:folHlink>
    </a:clrScheme>
    <a:fontScheme name="KSO主题5">
      <a:majorFont>
        <a:latin typeface="Broadway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9915</Words>
  <Application>WPS 演示</Application>
  <PresentationFormat>宽屏</PresentationFormat>
  <Paragraphs>397</Paragraphs>
  <Slides>70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92" baseType="lpstr">
      <vt:lpstr>Arial</vt:lpstr>
      <vt:lpstr>宋体</vt:lpstr>
      <vt:lpstr>Wingdings</vt:lpstr>
      <vt:lpstr>微软雅黑</vt:lpstr>
      <vt:lpstr>Wingdings 3</vt:lpstr>
      <vt:lpstr>Symbol</vt:lpstr>
      <vt:lpstr>幼圆</vt:lpstr>
      <vt:lpstr>黑体</vt:lpstr>
      <vt:lpstr>Arial Unicode MS</vt:lpstr>
      <vt:lpstr>Calibri</vt:lpstr>
      <vt:lpstr>方正粗黑宋简体</vt:lpstr>
      <vt:lpstr>等线</vt:lpstr>
      <vt:lpstr>华文仿宋</vt:lpstr>
      <vt:lpstr>仿宋</vt:lpstr>
      <vt:lpstr>Arial Unicode MS</vt:lpstr>
      <vt:lpstr>幼圆</vt:lpstr>
      <vt:lpstr>Calibri</vt:lpstr>
      <vt:lpstr>华文中宋</vt:lpstr>
      <vt:lpstr>Calibri Light</vt:lpstr>
      <vt:lpstr>幼圆</vt:lpstr>
      <vt:lpstr>A000120140530A99PPBG</vt:lpstr>
      <vt:lpstr>1</vt:lpstr>
      <vt:lpstr>储藏物昆虫的分类学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储藏物昆虫的分类学</dc:title>
  <dc:creator>Administrator</dc:creator>
  <cp:lastModifiedBy>Administrator</cp:lastModifiedBy>
  <cp:revision>40</cp:revision>
  <dcterms:created xsi:type="dcterms:W3CDTF">2021-03-07T07:01:00Z</dcterms:created>
  <dcterms:modified xsi:type="dcterms:W3CDTF">2022-04-07T10:13:30Z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F1872BADF551425C9BEE6932CDF1DC68</vt:lpwstr>
  </property>
  <property fmtid="{D5CDD505-2E9C-101B-9397-08002B2CF9AE}" pid="3" name="KSOProductBuildVer">
    <vt:lpwstr>2052-11.1.0.11369</vt:lpwstr>
  </property>
</Properties>
</file>