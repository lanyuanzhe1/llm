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slide+xml" PartName="/ppt/slides/slide_14ff6ba1-bbbd-4c88-808b-0c7c47492b4e.xml"/>
  <Override ContentType="application/vnd.openxmlformats-officedocument.presentationml.slide+xml" PartName="/ppt/slides/slide_1778c36f-80ff-4e78-a4c2-8297446927d7.xml"/>
  <Override ContentType="application/vnd.openxmlformats-officedocument.presentationml.slide+xml" PartName="/ppt/slides/slide_675b8295-8605-4e3a-ab74-160d9244e638.xml"/>
  <Override ContentType="application/vnd.openxmlformats-officedocument.presentationml.slide+xml" PartName="/ppt/slides/slide_2bfe1287-9eba-4808-9d92-4479e1dee74f.xml"/>
  <Override ContentType="application/vnd.openxmlformats-officedocument.presentationml.slide+xml" PartName="/ppt/slides/slide_5c1501f4-3f65-46a5-8cb5-a7126231386e.xml"/>
  <Override ContentType="application/vnd.openxmlformats-officedocument.presentationml.slide+xml" PartName="/ppt/slides/slide_ff292ed2-014d-4e71-93a4-332c4cd8ae04.xml"/>
  <Override ContentType="application/vnd.openxmlformats-officedocument.presentationml.slide+xml" PartName="/ppt/slides/slide_b8a7aa56-cc67-4e8e-8368-e9b6c4d4eb69.xml"/>
  <Override ContentType="application/vnd.openxmlformats-officedocument.presentationml.slide+xml" PartName="/ppt/slides/slide_10db06ec-3b35-472d-a979-8ab42cfca747.xml"/>
  <Override ContentType="application/vnd.openxmlformats-officedocument.presentationml.slide+xml" PartName="/ppt/slides/slide_041d561a-dca4-40ac-8b34-402234ff4e30.xml"/>
  <Override ContentType="application/vnd.openxmlformats-officedocument.presentationml.slide+xml" PartName="/ppt/slides/slide_02c208f9-bdd7-45a9-a6c4-a5558b555dc1.xml"/>
  <Override ContentType="application/vnd.openxmlformats-officedocument.presentationml.slide+xml" PartName="/ppt/slides/slide_1691c5b7-da5b-4fe0-b2ba-c2a314cf4502.xml"/>
  <Override ContentType="application/vnd.openxmlformats-officedocument.presentationml.slide+xml" PartName="/ppt/slides/slide_87521464-162b-4bae-80b5-85d8fb263fec.xml"/>
  <Override ContentType="application/vnd.openxmlformats-officedocument.presentationml.slide+xml" PartName="/ppt/slides/slide_b55008cc-9b17-446d-adf6-cc1e3a1ce6ba.xml"/>
  <Override ContentType="application/vnd.openxmlformats-officedocument.presentationml.slide+xml" PartName="/ppt/slides/slide_84dda5fb-8df3-4fa3-b4bd-35c5b4fbe764.xml"/>
  <Override ContentType="application/vnd.openxmlformats-officedocument.presentationml.slide+xml" PartName="/ppt/slides/slide_e7a39f35-4c83-43b9-b346-f0aa3ceec364.xml"/>
  <Override ContentType="application/vnd.openxmlformats-officedocument.presentationml.slide+xml" PartName="/ppt/slides/slide_6c85e879-3332-4d38-9895-3a8f9052fb6d.xml"/>
  <Override ContentType="application/vnd.openxmlformats-officedocument.presentationml.slide+xml" PartName="/ppt/slides/slide_186fd7a3-b897-4149-89b5-78f3a9e79461.xml"/>
  <Override ContentType="application/vnd.openxmlformats-officedocument.presentationml.slide+xml" PartName="/ppt/slides/slide_f91f00e4-a0a9-44e6-8008-e635899e006b.xml"/>
  <Override ContentType="application/vnd.openxmlformats-officedocument.presentationml.slide+xml" PartName="/ppt/slides/slide_56259d02-1a77-447c-a2ff-1bddc9e64e04.xml"/>
  <Override ContentType="application/vnd.openxmlformats-officedocument.presentationml.slide+xml" PartName="/ppt/slides/slide_36cac0f4-cdaa-4328-9bb8-d16f41269bfb.xml"/>
  <Override ContentType="application/vnd.openxmlformats-officedocument.presentationml.slide+xml" PartName="/ppt/slides/slide_c62270dc-91c9-4f53-b538-05f5916a9c33.xml"/>
  <Override ContentType="application/vnd.openxmlformats-officedocument.presentationml.slide+xml" PartName="/ppt/slides/slide_acdb1e5f-6762-4584-8949-c79a3999aba1.xml"/>
  <Override ContentType="application/vnd.openxmlformats-officedocument.presentationml.slide+xml" PartName="/ppt/slides/slide_c7645c59-c397-421b-a92b-b9ed5e6ded10.xml"/>
  <Override ContentType="application/vnd.openxmlformats-officedocument.presentationml.slide+xml" PartName="/ppt/slides/slide_ff461153-12dc-4a09-ab1c-7bde1ac360ea.xml"/>
  <Override ContentType="application/vnd.openxmlformats-officedocument.presentationml.slide+xml" PartName="/ppt/slides/slide_ba3f7627-1507-4bad-b189-564a36252b58.xml"/>
  <Override ContentType="application/vnd.openxmlformats-officedocument.presentationml.slide+xml" PartName="/ppt/slides/slide_390710c2-8355-4335-abfa-b2cc4d2dd794.xml"/>
</Types>
</file>

<file path=_rels/.rels><?xml version="1.0" encoding="UTF-8" standalone="yes"?>
<Relationships xmlns="http://schemas.openxmlformats.org/package/2006/relationships">
<Relationship Target="ppt/presentation.xml" Type="http://schemas.openxmlformats.org/officeDocument/2006/relationships/officeDocument" Id="rId1"/>
<Relationship Target="docProps/thumbnail.jpeg" Type="http://schemas.openxmlformats.org/package/2006/relationships/metadata/thumbnail" Id="rId2"/>
<Relationship Target="docProps/core.xml" Type="http://schemas.openxmlformats.org/package/2006/relationships/metadata/core-properties" Id="rId3"/>
<Relationship Target="docProps/app.xml" Type="http://schemas.openxmlformats.org/officeDocument/2006/relationships/extended-properties" Id="rId4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6"/>
    <p:sldId id="257" r:id="rId4I36r8"/>
    <p:sldId id="258" r:id="rIdoPSkl1"/>
    <p:sldId id="259" r:id="rIdGEK6Xz"/>
    <p:sldId id="260" r:id="rIds4zYEj"/>
    <p:sldId id="261" r:id="rIdaQaTI8"/>
    <p:sldId id="262" r:id="rIdWHcNEH"/>
    <p:sldId id="263" r:id="rId64NMxX"/>
    <p:sldId id="264" r:id="rIdYrF7ei"/>
    <p:sldId id="265" r:id="rIdL3CfXG"/>
    <p:sldId id="266" r:id="rIdMa4nXs"/>
    <p:sldId id="267" r:id="rId4au7Y2"/>
    <p:sldId id="268" r:id="rIdDzXcra"/>
    <p:sldId id="269" r:id="rIdC5bcJ4"/>
    <p:sldId id="270" r:id="rIduiqAXt"/>
    <p:sldId id="271" r:id="rIdQkchTo"/>
    <p:sldId id="272" r:id="rIdUzlimt"/>
    <p:sldId id="273" r:id="rIdyc1kEg"/>
    <p:sldId id="274" r:id="rIdvM3E2W"/>
    <p:sldId id="275" r:id="rIdq8gjgh"/>
    <p:sldId id="276" r:id="rId9P34zy"/>
    <p:sldId id="277" r:id="rId6ArOXS"/>
    <p:sldId id="278" r:id="rIdX8Ti7t"/>
    <p:sldId id="279" r:id="rIdd9yfO7"/>
    <p:sldId id="280" r:id="rIdZ53NYR"/>
    <p:sldId id="281" r:id="rIdku2bvg"/>
    <p:sldId id="282" r:id="rIdEPHShI"/>
  </p:sldIdLst>
  <p:sldSz cx="12192000" cy="6858000" type="screen16x9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ooxmlsdkcls="c:P15_CT_ExtendedGuideList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 lastView="sldThumbnailView">
  <p:normalViewPr>
    <p:restoredLeft sz="16520"/>
    <p:restoredTop sz="94674"/>
  </p:normalViewPr>
  <p:slideViewPr>
    <p:cSldViewPr snapToGrid="0">
      <p:cViewPr varScale="1">
        <p:scale>
          <a:sx d="100" n="124"/>
          <a:sy d="100" n="124"/>
        </p:scale>
        <p:origin x="224" y="16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Target="slideMasters/slideMaster1.xml" Type="http://schemas.openxmlformats.org/officeDocument/2006/relationships/slideMaster" Id="rId1"/>
<Relationship Target="presProps.xml" Type="http://schemas.openxmlformats.org/officeDocument/2006/relationships/presProps" Id="rId2"/>
<Relationship Target="viewProps.xml" Type="http://schemas.openxmlformats.org/officeDocument/2006/relationships/viewProps" Id="rId3"/>
<Relationship Target="theme/theme1.xml" Type="http://schemas.openxmlformats.org/officeDocument/2006/relationships/theme" Id="rId4"/>
<Relationship Target="tableStyles.xml" Type="http://schemas.openxmlformats.org/officeDocument/2006/relationships/tableStyles" Id="rId5"/>
<Relationship Target="slides/slide1.xml" Type="http://schemas.openxmlformats.org/officeDocument/2006/relationships/slide" Id="rId6"/>
<Relationship Target="slides/slide_14ff6ba1-bbbd-4c88-808b-0c7c47492b4e.xml" Type="http://schemas.openxmlformats.org/officeDocument/2006/relationships/slide" Id="rId4I36r8"/>
<Relationship Target="slides/slide_1778c36f-80ff-4e78-a4c2-8297446927d7.xml" Type="http://schemas.openxmlformats.org/officeDocument/2006/relationships/slide" Id="rIdoPSkl1"/>
<Relationship Target="slides/slide_675b8295-8605-4e3a-ab74-160d9244e638.xml" Type="http://schemas.openxmlformats.org/officeDocument/2006/relationships/slide" Id="rIdGEK6Xz"/>
<Relationship Target="slides/slide_2bfe1287-9eba-4808-9d92-4479e1dee74f.xml" Type="http://schemas.openxmlformats.org/officeDocument/2006/relationships/slide" Id="rIds4zYEj"/>
<Relationship Target="slides/slide_5c1501f4-3f65-46a5-8cb5-a7126231386e.xml" Type="http://schemas.openxmlformats.org/officeDocument/2006/relationships/slide" Id="rIdaQaTI8"/>
<Relationship Target="slides/slide_ff292ed2-014d-4e71-93a4-332c4cd8ae04.xml" Type="http://schemas.openxmlformats.org/officeDocument/2006/relationships/slide" Id="rIdWHcNEH"/>
<Relationship Target="slides/slide_b8a7aa56-cc67-4e8e-8368-e9b6c4d4eb69.xml" Type="http://schemas.openxmlformats.org/officeDocument/2006/relationships/slide" Id="rId64NMxX"/>
<Relationship Target="slides/slide_10db06ec-3b35-472d-a979-8ab42cfca747.xml" Type="http://schemas.openxmlformats.org/officeDocument/2006/relationships/slide" Id="rIdYrF7ei"/>
<Relationship Target="slides/slide_041d561a-dca4-40ac-8b34-402234ff4e30.xml" Type="http://schemas.openxmlformats.org/officeDocument/2006/relationships/slide" Id="rIdL3CfXG"/>
<Relationship Target="slides/slide_02c208f9-bdd7-45a9-a6c4-a5558b555dc1.xml" Type="http://schemas.openxmlformats.org/officeDocument/2006/relationships/slide" Id="rIdMa4nXs"/>
<Relationship Target="slides/slide_1691c5b7-da5b-4fe0-b2ba-c2a314cf4502.xml" Type="http://schemas.openxmlformats.org/officeDocument/2006/relationships/slide" Id="rId4au7Y2"/>
<Relationship Target="slides/slide_87521464-162b-4bae-80b5-85d8fb263fec.xml" Type="http://schemas.openxmlformats.org/officeDocument/2006/relationships/slide" Id="rIdDzXcra"/>
<Relationship Target="slides/slide_b55008cc-9b17-446d-adf6-cc1e3a1ce6ba.xml" Type="http://schemas.openxmlformats.org/officeDocument/2006/relationships/slide" Id="rIdC5bcJ4"/>
<Relationship Target="slides/slide_84dda5fb-8df3-4fa3-b4bd-35c5b4fbe764.xml" Type="http://schemas.openxmlformats.org/officeDocument/2006/relationships/slide" Id="rIduiqAXt"/>
<Relationship Target="slides/slide_e7a39f35-4c83-43b9-b346-f0aa3ceec364.xml" Type="http://schemas.openxmlformats.org/officeDocument/2006/relationships/slide" Id="rIdQkchTo"/>
<Relationship Target="slides/slide_6c85e879-3332-4d38-9895-3a8f9052fb6d.xml" Type="http://schemas.openxmlformats.org/officeDocument/2006/relationships/slide" Id="rIdUzlimt"/>
<Relationship Target="slides/slide_186fd7a3-b897-4149-89b5-78f3a9e79461.xml" Type="http://schemas.openxmlformats.org/officeDocument/2006/relationships/slide" Id="rIdyc1kEg"/>
<Relationship Target="slides/slide_f91f00e4-a0a9-44e6-8008-e635899e006b.xml" Type="http://schemas.openxmlformats.org/officeDocument/2006/relationships/slide" Id="rIdvM3E2W"/>
<Relationship Target="slides/slide_56259d02-1a77-447c-a2ff-1bddc9e64e04.xml" Type="http://schemas.openxmlformats.org/officeDocument/2006/relationships/slide" Id="rIdq8gjgh"/>
<Relationship Target="slides/slide_36cac0f4-cdaa-4328-9bb8-d16f41269bfb.xml" Type="http://schemas.openxmlformats.org/officeDocument/2006/relationships/slide" Id="rId9P34zy"/>
<Relationship Target="slides/slide_c62270dc-91c9-4f53-b538-05f5916a9c33.xml" Type="http://schemas.openxmlformats.org/officeDocument/2006/relationships/slide" Id="rId6ArOXS"/>
<Relationship Target="slides/slide_acdb1e5f-6762-4584-8949-c79a3999aba1.xml" Type="http://schemas.openxmlformats.org/officeDocument/2006/relationships/slide" Id="rIdX8Ti7t"/>
<Relationship Target="slides/slide_c7645c59-c397-421b-a92b-b9ed5e6ded10.xml" Type="http://schemas.openxmlformats.org/officeDocument/2006/relationships/slide" Id="rIdd9yfO7"/>
<Relationship Target="slides/slide_ff461153-12dc-4a09-ab1c-7bde1ac360ea.xml" Type="http://schemas.openxmlformats.org/officeDocument/2006/relationships/slide" Id="rIdZ53NYR"/>
<Relationship Target="slides/slide_ba3f7627-1507-4bad-b189-564a36252b58.xml" Type="http://schemas.openxmlformats.org/officeDocument/2006/relationships/slide" Id="rIdku2bvg"/>
<Relationship Target="slides/slide_390710c2-8355-4335-abfa-b2cc4d2dd794.xml" Type="http://schemas.openxmlformats.org/officeDocument/2006/relationships/slide" Id="rIdEPHShI"/>
</Relationships>

</file>

<file path=ppt/slideLayouts/_rels/slideLayout1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2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3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4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5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6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7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8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9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10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_rels/slideLayout11.xml.rels><?xml version="1.0" encoding="UTF-8" standalone="yes"?>
<Relationships xmlns="http://schemas.openxmlformats.org/package/2006/relationships">
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:ooxmlsdkcls="c:A16_CT_CreationId" id="{72D1C8FA-4E74-3C2B-B2E1-90179EE0F86D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kumimoji="1" lang="zh-CN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EAF96F5C-20E8-D5B3-4B51-E00FBADC240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5DCA3150-268E-E144-EB8E-C83266A4625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62C9375F-A225-D342-874D-7AF26BF34C8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213152611"/>
      </p:ext>
    </p:extLst>
  </p:cSld>
  <p:clrMapOvr>
    <a:masterClrMapping/>
  </p:clrMapOvr>
  <p:extLst>
    <p:ext uri="ooxmlsdk">
      <ooxmlsdk:mediaFallback xmlns:ooxmlsdkcls="c:OOXMLSDK_CT_MediaFallback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76E2F4FD-E8D7-1C42-14C4-121EA09928C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7BD03D1D-7811-D79C-3E26-008C6266453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9F5FEE4B-101F-62CC-E69D-F081B97B9CBC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2047147540"/>
      </p:ext>
    </p:extLst>
  </p:cSld>
  <p:clrMapOvr>
    <a:masterClrMapping/>
  </p:clrMapOvr>
  <p:extLst>
    <p:ext uri="ooxmlsdk">
      <ooxmlsdk:mediaFallback xmlns:ooxmlsdkcls="c:OOXMLSDK_CT_MediaFallback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6C09279D-06F0-EFDE-9CD6-193A29D31A41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23B3CCE7-DC65-DA1D-3E8E-70130CD6E89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99B74EE2-CD7D-A99C-E5D2-1366E53CABFC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5252B1E2-E5C3-92D1-FF78-B950DDC1B42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205822510"/>
      </p:ext>
    </p:extLst>
  </p:cSld>
  <p:clrMapOvr>
    <a:masterClrMapping/>
  </p:clrMapOvr>
  <p:extLst>
    <p:ext uri="ooxmlsdk">
      <ooxmlsdk:mediaFallback xmlns:ooxmlsdkcls="c:OOXMLSDK_CT_MediaFallback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2C17D338-6AC5-3B05-1915-B1578DB8BD84}"/>
              </a:ext>
            </a:extLst>
          </p:cNvPr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:ooxmlsdkcls="c:A16_CT_CreationId" id="{0F8E3BF0-2279-8BF3-1C0E-03C9E7BF3BF7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5EB8EC9A-56DC-2B36-BF93-CCB1A8E3E9A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1F3D304B-FAC1-533F-1456-38E73C2AFC52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016F4D4A-E839-BFE4-78EA-559F4A54D91C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968786054"/>
      </p:ext>
    </p:extLst>
  </p:cSld>
  <p:clrMapOvr>
    <a:masterClrMapping/>
  </p:clrMapOvr>
  <p:extLst>
    <p:ext uri="ooxmlsdk">
      <ooxmlsdk:mediaFallback xmlns:ooxmlsdkcls="c:OOXMLSDK_CT_MediaFallback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47A501C3-38EB-2364-C39C-33279253F15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:ooxmlsdkcls="c:A16_CT_CreationId" id="{85EEC63D-4589-C043-285B-B8127689F2C7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:ooxmlsdkcls="c:A16_CT_CreationId" id="{18810A47-0A22-AB30-2FCE-43F3C972A800}"/>
              </a:ext>
            </a:extLst>
          </p:cNvPr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:ooxmlsdkcls="c:A16_CT_CreationId" id="{588C72C7-7B09-FD2C-30C5-4350039BABB1}"/>
              </a:ext>
            </a:extLst>
          </p:cNvPr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:ooxmlsdkcls="c:A16_CT_CreationId" id="{B3957867-163A-9E7A-AE92-DDB0D8E1D82F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:ooxmlsdkcls="c:A16_CT_CreationId" id="{140928ED-F638-2A81-FAF0-17D14FCA979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:ooxmlsdkcls="c:A16_CT_CreationId" id="{EB5BCCDA-B30D-A94D-59C6-47F6302534C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120130515"/>
      </p:ext>
    </p:extLst>
  </p:cSld>
  <p:clrMapOvr>
    <a:masterClrMapping/>
  </p:clrMapOvr>
  <p:extLst>
    <p:ext uri="ooxmlsdk">
      <ooxmlsdk:mediaFallback xmlns:ooxmlsdkcls="c:OOXMLSDK_CT_MediaFallback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:ooxmlsdkcls="c:A16_CT_CreationId" id="{5CFF8EF7-C3FC-15DF-EB99-F3AFA6C50F0F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:ooxmlsdkcls="c:A16_CT_CreationId" id="{BBA37BA3-FB71-5172-B46A-25DF8DB9748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:ooxmlsdkcls="c:A16_CT_CreationId" id="{890FED2D-6DE6-4528-CEC4-A1B115005D0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281781461"/>
      </p:ext>
    </p:extLst>
  </p:cSld>
  <p:clrMapOvr>
    <a:masterClrMapping/>
  </p:clrMapOvr>
  <p:extLst>
    <p:ext uri="ooxmlsdk">
      <ooxmlsdk:mediaFallback xmlns:ooxmlsdkcls="c:OOXMLSDK_CT_MediaFallback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:ooxmlsdkcls="c:A16_CT_CreationId" id="{3C4BDD16-6439-B908-EDD7-E328E0DBDD56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:ooxmlsdkcls="c:A16_CT_CreationId" id="{82E04F1C-1C5E-FF25-BFF4-A2FD0C4AB89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:ooxmlsdkcls="c:A16_CT_CreationId" id="{25C5C0E4-D1F8-57FC-808D-20A6FC4DDD9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495038035"/>
      </p:ext>
    </p:extLst>
  </p:cSld>
  <p:clrMapOvr>
    <a:masterClrMapping/>
  </p:clrMapOvr>
  <p:extLst>
    <p:ext uri="ooxmlsdk">
      <ooxmlsdk:mediaFallback xmlns:ooxmlsdkcls="c:OOXMLSDK_CT_MediaFallback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:ooxmlsdkcls="c:A16_CT_CreationId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:ooxmlsdkcls="c:A16_CT_CreationId" id="{F304B274-03F4-DFA5-61F7-9E8E0AC98463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D8BAC8FF-DC28-5C76-6936-568A1EF2BCE4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0762A2AA-F26F-56C5-60C1-F265434CD34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2E79CC6C-B836-7CF1-8B26-F26AD143943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850346981"/>
      </p:ext>
    </p:extLst>
  </p:cSld>
  <p:clrMapOvr>
    <a:masterClrMapping/>
  </p:clrMapOvr>
  <p:extLst>
    <p:ext uri="ooxmlsdk">
      <ooxmlsdk:mediaFallback xmlns:ooxmlsdkcls="c:OOXMLSDK_CT_MediaFallback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:ooxmlsdkcls="c:A16_CT_CreationId" id="{BB5A8308-143D-B013-FA6D-13A508B23FD4}"/>
              </a:ext>
            </a:extLst>
          </p:cNvPr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kumimoji="1" 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:ooxmlsdkcls="c:A16_CT_CreationId" id="{A09730FC-073C-5B6F-22E8-FA4523B5C264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kumimoji="1" lang="zh-CN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:ooxmlsdkcls="c:A16_CT_CreationId" id="{9C0007D1-71A0-CD5F-5290-4EB94B79278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:ooxmlsdkcls="c:A16_CT_CreationId" id="{F4971ABE-DCFA-3F63-9336-9EBAF4904CA5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:ooxmlsdkcls="c:A16_CT_CreationId" id="{BF786D08-7017-BD7F-109B-79A0EF202E2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851326504"/>
      </p:ext>
    </p:extLst>
  </p:cSld>
  <p:clrMapOvr>
    <a:masterClrMapping/>
  </p:clrMapOvr>
  <p:extLst>
    <p:ext uri="ooxmlsdk">
      <ooxmlsdk:mediaFallback xmlns:ooxmlsdkcls="c:OOXMLSDK_CT_MediaFallback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:ooxmlsdkcls="c:A16_CT_CreationId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:ooxmlsdkcls="c:A16_CT_CreationId" id="{B3CB66B5-34D0-BDE9-5932-0E416504FDCD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2BD9B6BF-E627-7250-3EDA-1287E1110522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AA7CADA8-4560-F141-7ED6-BD570DF7468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24590A53-D30B-FB19-DA4E-56FFB4BECD9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1821721733"/>
      </p:ext>
    </p:extLst>
  </p:cSld>
  <p:clrMapOvr>
    <a:masterClrMapping/>
  </p:clrMapOvr>
  <p:extLst>
    <p:ext uri="ooxmlsdk">
      <ooxmlsdk:mediaFallback xmlns:ooxmlsdkcls="c:OOXMLSDK_CT_MediaFallback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ooxmlsdk="ooxmlsdk" xmlns:p="http://schemas.openxmlformats.org/presentationml/2006/main" xmlns:r="http://schemas.openxmlformats.org/officeDocument/2006/relationships" preserve="1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:ooxmlsdkcls="c:A16_CT_CreationId" id="{9F20F4DD-F736-F394-947B-5741BD745FEF}"/>
              </a:ext>
            </a:extLst>
          </p:cNvPr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:ooxmlsdkcls="c:A16_CT_CreationId" id="{B6E099BE-C301-7614-65DF-46D9E84D64D7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5B136390-1E46-C21F-75CD-E31A7832447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785A1DA6-C2F0-C179-3F42-8D6667B9AE8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B4619AC8-8FAF-9013-7FB4-18456D33271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2923299543"/>
      </p:ext>
    </p:extLst>
  </p:cSld>
  <p:clrMapOvr>
    <a:masterClrMapping/>
  </p:clrMapOvr>
  <p:extLst>
    <p:ext uri="ooxmlsdk">
      <ooxmlsdk:mediaFallback xmlns:ooxmlsdkcls="c:OOXMLSDK_CT_MediaFallback" target="/slidelayout//ppt/slideLayouts/slideLayout11.xml.png" type="slideLayout"/>
    </p:ext>
  </p:extLst>
</p:sldLayout>
</file>

<file path=ppt/slideMasters/_rels/slideMaster1.xml.rels><?xml version="1.0" encoding="UTF-8" standalone="yes"?>
<Relationships xmlns="http://schemas.openxmlformats.org/package/2006/relationships">
<Relationship Target="../slideLayouts/slideLayout1.xml" Type="http://schemas.openxmlformats.org/officeDocument/2006/relationships/slideLayout" Id="rId1"/>
<Relationship Target="../slideLayouts/slideLayout10.xml" Type="http://schemas.openxmlformats.org/officeDocument/2006/relationships/slideLayout" Id="rId10"/>
<Relationship Target="../slideLayouts/slideLayout11.xml" Type="http://schemas.openxmlformats.org/officeDocument/2006/relationships/slideLayout" Id="rId11"/>
<Relationship Target="../theme/theme1.xml" Type="http://schemas.openxmlformats.org/officeDocument/2006/relationships/theme" Id="rId12"/>
<Relationship Target="../slideLayouts/slideLayout2.xml" Type="http://schemas.openxmlformats.org/officeDocument/2006/relationships/slideLayout" Id="rId2"/>
<Relationship Target="../slideLayouts/slideLayout3.xml" Type="http://schemas.openxmlformats.org/officeDocument/2006/relationships/slideLayout" Id="rId3"/>
<Relationship Target="../slideLayouts/slideLayout4.xml" Type="http://schemas.openxmlformats.org/officeDocument/2006/relationships/slideLayout" Id="rId4"/>
<Relationship Target="../slideLayouts/slideLayout5.xml" Type="http://schemas.openxmlformats.org/officeDocument/2006/relationships/slideLayout" Id="rId5"/>
<Relationship Target="../slideLayouts/slideLayout6.xml" Type="http://schemas.openxmlformats.org/officeDocument/2006/relationships/slideLayout" Id="rId6"/>
<Relationship Target="../slideLayouts/slideLayout7.xml" Type="http://schemas.openxmlformats.org/officeDocument/2006/relationships/slideLayout" Id="rId7"/>
<Relationship Target="../slideLayouts/slideLayout8.xml" Type="http://schemas.openxmlformats.org/officeDocument/2006/relationships/slideLayout" Id="rId8"/>
<Relationship Target="../slideLayouts/slideLayout9.xml" Type="http://schemas.openxmlformats.org/officeDocument/2006/relationships/slideLayout" Id="rId9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:ooxmlsdkcls="c:A16_CT_CreationId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kumimoji="1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:ooxmlsdkcls="c:A16_CT_CreationId" id="{857A3692-2AD9-CE6F-D53F-7845B9B389B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kumimoji="1" lang="zh-CN"/>
              <a:t>单击此处编辑母版文本样式</a:t>
            </a:r>
          </a:p>
          <a:p>
            <a:pPr lvl="1"/>
            <a:r>
              <a:rPr altLang="en-US" kumimoji="1" lang="zh-CN"/>
              <a:t>二级</a:t>
            </a:r>
          </a:p>
          <a:p>
            <a:pPr lvl="2"/>
            <a:r>
              <a:rPr altLang="en-US" kumimoji="1" lang="zh-CN"/>
              <a:t>三级</a:t>
            </a:r>
          </a:p>
          <a:p>
            <a:pPr lvl="3"/>
            <a:r>
              <a:rPr altLang="en-US" kumimoji="1" lang="zh-CN"/>
              <a:t>四级</a:t>
            </a:r>
          </a:p>
          <a:p>
            <a:pPr lvl="4"/>
            <a:r>
              <a:rPr altLang="en-US" kumimoji="1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:ooxmlsdkcls="c:A16_CT_CreationId" id="{7B51CEA3-90BC-60A3-2BF0-EFFB67E7C6ED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altLang="en-US" kumimoji="1" lang="zh-CN" smtClean="0"/>
              <a:t>2025/10/20</a:t>
            </a:fld>
            <a:endParaRPr altLang="en-US" kumimoji="1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:ooxmlsdkcls="c:A16_CT_CreationId" id="{CA196AE0-833D-16AA-C61D-4401D75F897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kumimoji="1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:ooxmlsdkcls="c:A16_CT_CreationId" id="{03FBC43C-0D70-FA29-5981-9056C96452AA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altLang="en-US" kumimoji="1" lang="zh-CN" smtClean="0"/>
              <a:t>‹#›</a:t>
            </a:fld>
            <a:endParaRPr altLang="en-US" kumimoji="1" lang="zh-CN"/>
          </a:p>
        </p:txBody>
      </p:sp>
    </p:spTree>
    <p:extLst>
      <p:ext uri="{BB962C8B-B14F-4D97-AF65-F5344CB8AC3E}">
        <p14:creationId xmlns:ooxmlsdkcls="c:P14_CT_RandomId" xmlns:p14="http://schemas.microsoft.com/office/powerpoint/2010/main" val="325848798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Target="../slideLayouts/slideLayout7.xml" Type="http://schemas.openxmlformats.org/officeDocument/2006/relationships/slideLayout" Id="rId1"/>
<Relationship Target="../media/image1.png" Type="http://schemas.openxmlformats.org/officeDocument/2006/relationships/image" Id="rId2"/>
<Relationship Target="../media/image2.png" Type="http://schemas.openxmlformats.org/officeDocument/2006/relationships/image" Id="rId3"/>
<Relationship Target="../media/image3.png" Type="http://schemas.openxmlformats.org/officeDocument/2006/relationships/image" Id="rId4"/>
</Relationships>

</file>

<file path=ppt/slides/_rels/slide_02c208f9-bdd7-45a9-a6c4-a5558b555dc1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AeWSQX"/>
<rels:Relationship Target="../media/image_04681266-fb3e-4ec9-9e88-1f9674ce0918.png" Type="http://schemas.openxmlformats.org/officeDocument/2006/relationships/image" Id="rIdg58EPL"/>
<rels:Relationship Target="../media/image_4492f56a-f5be-455d-9ba8-fd9b58c0b44b.png" Type="http://schemas.openxmlformats.org/officeDocument/2006/relationships/image" Id="rId1z9wy2"/>
</rels:Relationships>

</file>

<file path=ppt/slides/_rels/slide_2bfe1287-9eba-4808-9d92-4479e1dee74f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RwKftS"/>
<rels:Relationship Target="../media/image_6178ed3b-c5ee-435c-81d6-ea6c49457765.png" Type="http://schemas.openxmlformats.org/officeDocument/2006/relationships/image" Id="rIdQsI5OX"/>
<rels:Relationship Target="../media/image_758705ae-0a7d-4ab5-a43f-ad5c90e6cbe2.png" Type="http://schemas.openxmlformats.org/officeDocument/2006/relationships/image" Id="rIdescF5a"/>
<rels:Relationship Target="../media/image_27298d18-505c-4284-b829-7590a7044f59.jpeg" Type="http://schemas.openxmlformats.org/officeDocument/2006/relationships/image" Id="rIdZGkRqh"/>
</rels:Relationships>

</file>

<file path=ppt/slides/_rels/slide_5c1501f4-3f65-46a5-8cb5-a7126231386e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ZnkQB2"/>
<rels:Relationship Target="../media/image_6178ed3b-c5ee-435c-81d6-ea6c49457765.png" Type="http://schemas.openxmlformats.org/officeDocument/2006/relationships/image" Id="rId8783up"/>
<rels:Relationship Target="../media/image_621a1347-e2e9-42d5-acf8-74f048bf593f.png" Type="http://schemas.openxmlformats.org/officeDocument/2006/relationships/image" Id="rId4MbWVy"/>
</rels:Relationships>

</file>

<file path=ppt/slides/_rels/slide_6c85e879-3332-4d38-9895-3a8f9052fb6d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cPjDa5"/>
<rels:Relationship Target="../media/image_6178ed3b-c5ee-435c-81d6-ea6c49457765.png" Type="http://schemas.openxmlformats.org/officeDocument/2006/relationships/image" Id="rIdX51Kmn"/>
<rels:Relationship Target="../media/image_9a29374d-c5c6-41ab-b33b-b2e99ee7bf47.png" Type="http://schemas.openxmlformats.org/officeDocument/2006/relationships/image" Id="rIdm7D8aE"/>
</rels:Relationships>

</file>

<file path=ppt/slides/_rels/slide_10db06ec-3b35-472d-a979-8ab42cfca747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8cIEn"/>
<rels:Relationship Target="../media/image_6178ed3b-c5ee-435c-81d6-ea6c49457765.png" Type="http://schemas.openxmlformats.org/officeDocument/2006/relationships/image" Id="rIdphUv2f"/>
<rels:Relationship Target="../media/image_4311ae54-d53e-4968-9f10-6827662a553a.jpeg" Type="http://schemas.openxmlformats.org/officeDocument/2006/relationships/image" Id="rIdUNN6sh"/>
<rels:Relationship Target="../media/image_09c8e4ef-0357-4df9-9124-b2763b10f9fd.jpeg" Type="http://schemas.openxmlformats.org/officeDocument/2006/relationships/image" Id="rIdrxr3Wa"/>
</rels:Relationships>

</file>

<file path=ppt/slides/_rels/slide_14ff6ba1-bbbd-4c88-808b-0c7c47492b4e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3oCb0"/>
<rels:Relationship Target="../media/image_6178ed3b-c5ee-435c-81d6-ea6c49457765.png" Type="http://schemas.openxmlformats.org/officeDocument/2006/relationships/image" Id="rIdvJwxum"/>
<rels:Relationship Target="../media/image_0ea9f50d-cad0-4c9c-9af1-291eadffd8f5.png" Type="http://schemas.openxmlformats.org/officeDocument/2006/relationships/image" Id="rId4g6y5p"/>
</rels:Relationships>

</file>

<file path=ppt/slides/_rels/slide_36cac0f4-cdaa-4328-9bb8-d16f41269bfb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oDd8wf"/>
<rels:Relationship Target="../media/image_6178ed3b-c5ee-435c-81d6-ea6c49457765.png" Type="http://schemas.openxmlformats.org/officeDocument/2006/relationships/image" Id="rId037qcI"/>
</rels:Relationships>

</file>

<file path=ppt/slides/_rels/slide_041d561a-dca4-40ac-8b34-402234ff4e30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5y8lvp"/>
<rels:Relationship Target="../media/image_6178ed3b-c5ee-435c-81d6-ea6c49457765.png" Type="http://schemas.openxmlformats.org/officeDocument/2006/relationships/image" Id="rId4O080p"/>
<rels:Relationship Target="../media/image_e406d072-23e3-4f73-87ac-f5331441f562.jpeg" Type="http://schemas.openxmlformats.org/officeDocument/2006/relationships/image" Id="rIdx78feb"/>
<rels:Relationship Target="../media/image_2885835e-3444-40f9-8e7f-1e57c71137f9.jpeg" Type="http://schemas.openxmlformats.org/officeDocument/2006/relationships/image" Id="rIdNKODot"/>
<rels:Relationship Target="../media/image_f670a753-d3f6-4a15-b950-f79171d45b26.jpeg" Type="http://schemas.openxmlformats.org/officeDocument/2006/relationships/image" Id="rIdl9UqMZ"/>
<rels:Relationship Target="../media/image_9939000f-6264-4414-aaf6-2af2e4c032af.jpeg" Type="http://schemas.openxmlformats.org/officeDocument/2006/relationships/image" Id="rId2R4iFE"/>
</rels:Relationships>

</file>

<file path=ppt/slides/_rels/slide_84dda5fb-8df3-4fa3-b4bd-35c5b4fbe76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rxnn8V"/>
<rels:Relationship Target="../media/image_04681266-fb3e-4ec9-9e88-1f9674ce0918.png" Type="http://schemas.openxmlformats.org/officeDocument/2006/relationships/image" Id="rId8cSUek"/>
<rels:Relationship Target="../media/image_4492f56a-f5be-455d-9ba8-fd9b58c0b44b.png" Type="http://schemas.openxmlformats.org/officeDocument/2006/relationships/image" Id="rIdQK0UXe"/>
</rels:Relationships>

</file>

<file path=ppt/slides/_rels/slide_186fd7a3-b897-4149-89b5-78f3a9e79461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zT4dp6"/>
<rels:Relationship Target="../media/image_6178ed3b-c5ee-435c-81d6-ea6c49457765.png" Type="http://schemas.openxmlformats.org/officeDocument/2006/relationships/image" Id="rIdleFk4A"/>
<rels:Relationship Target="../media/image_e26aeed5-57a7-4476-90af-0d3560f9f3df.jpeg" Type="http://schemas.openxmlformats.org/officeDocument/2006/relationships/image" Id="rIddIkWtV"/>
</rels:Relationships>

</file>

<file path=ppt/slides/_rels/slide_675b8295-8605-4e3a-ab74-160d9244e638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1Ie6dJ"/>
<rels:Relationship Target="../media/image_6178ed3b-c5ee-435c-81d6-ea6c49457765.png" Type="http://schemas.openxmlformats.org/officeDocument/2006/relationships/image" Id="rId3TaCZQ"/>
<rels:Relationship Target="../media/image_3c71c8ec-5498-445d-bdd5-0c8cec490b87.jpeg" Type="http://schemas.openxmlformats.org/officeDocument/2006/relationships/image" Id="rIdlp0D63"/>
<rels:Relationship Target="../media/image_fdef648e-d9a2-4ace-bc26-2d8ffc7ace2f.jpeg" Type="http://schemas.openxmlformats.org/officeDocument/2006/relationships/image" Id="rIdZiFsFx"/>
<rels:Relationship Target="../media/image_a1b7d7d3-a622-4529-84f1-830ed6c7fed5.jpeg" Type="http://schemas.openxmlformats.org/officeDocument/2006/relationships/image" Id="rIdyBhEOb"/>
<rels:Relationship Target="../media/image_e3f63421-1138-487c-b906-df8e761d9323.jpeg" Type="http://schemas.openxmlformats.org/officeDocument/2006/relationships/image" Id="rIdNdWXzN"/>
</rels:Relationships>

</file>

<file path=ppt/slides/_rels/slide_1691c5b7-da5b-4fe0-b2ba-c2a314cf4502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l4VLyc"/>
<rels:Relationship Target="../media/image_6178ed3b-c5ee-435c-81d6-ea6c49457765.png" Type="http://schemas.openxmlformats.org/officeDocument/2006/relationships/image" Id="rIddAiDkg"/>
<rels:Relationship Target="../media/image_0d50eb13-288c-4981-8985-c07d90e06f09.jpeg" Type="http://schemas.openxmlformats.org/officeDocument/2006/relationships/image" Id="rIdW42AZD"/>
<rels:Relationship Target="../media/image_8c41cdfb-aea9-49a8-9cb6-261f9c295c00.jpeg" Type="http://schemas.openxmlformats.org/officeDocument/2006/relationships/image" Id="rIdlML7qK"/>
<rels:Relationship Target="../media/image_e4f007c6-898e-477a-8c1c-e02aa4f96de6.jpeg" Type="http://schemas.openxmlformats.org/officeDocument/2006/relationships/image" Id="rIdm637jU"/>
</rels:Relationships>

</file>

<file path=ppt/slides/_rels/slide_1778c36f-80ff-4e78-a4c2-8297446927d7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jWdWEU"/>
<rels:Relationship Target="../media/image_04681266-fb3e-4ec9-9e88-1f9674ce0918.png" Type="http://schemas.openxmlformats.org/officeDocument/2006/relationships/image" Id="rIdDOFICn"/>
<rels:Relationship Target="../media/image_4492f56a-f5be-455d-9ba8-fd9b58c0b44b.png" Type="http://schemas.openxmlformats.org/officeDocument/2006/relationships/image" Id="rIdgWeA8K"/>
</rels:Relationships>

</file>

<file path=ppt/slides/_rels/slide_56259d02-1a77-447c-a2ff-1bddc9e64e0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YB2snm"/>
<rels:Relationship Target="../media/image_6178ed3b-c5ee-435c-81d6-ea6c49457765.png" Type="http://schemas.openxmlformats.org/officeDocument/2006/relationships/image" Id="rIdbYHQb6"/>
<rels:Relationship Target="../media/image_c8acb35c-f4ba-426d-afe2-31cbd572a9fb.jpeg" Type="http://schemas.openxmlformats.org/officeDocument/2006/relationships/image" Id="rIdFU8vuA"/>
</rels:Relationships>

</file>

<file path=ppt/slides/_rels/slide_390710c2-8355-4335-abfa-b2cc4d2dd79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AgnleX"/>
<rels:Relationship Target="../media/image1.png" Type="http://schemas.openxmlformats.org/officeDocument/2006/relationships/image" Id="rIdMWft6h"/>
<rels:Relationship Target="../media/image2.png" Type="http://schemas.openxmlformats.org/officeDocument/2006/relationships/image" Id="rIdUL6wp8"/>
<rels:Relationship Target="../media/image3.png" Type="http://schemas.openxmlformats.org/officeDocument/2006/relationships/image" Id="rIdUDs5uz"/>
</rels:Relationships>

</file>

<file path=ppt/slides/_rels/slide_87521464-162b-4bae-80b5-85d8fb263fec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xyalKz"/>
<rels:Relationship Target="../media/image_6178ed3b-c5ee-435c-81d6-ea6c49457765.png" Type="http://schemas.openxmlformats.org/officeDocument/2006/relationships/image" Id="rIdwmBjnZ"/>
</rels:Relationships>

</file>

<file path=ppt/slides/_rels/slide_acdb1e5f-6762-4584-8949-c79a3999aba1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KsJQTb"/>
<rels:Relationship Target="../media/image_04681266-fb3e-4ec9-9e88-1f9674ce0918.png" Type="http://schemas.openxmlformats.org/officeDocument/2006/relationships/image" Id="rIdGjMdbW"/>
<rels:Relationship Target="../media/image_4492f56a-f5be-455d-9ba8-fd9b58c0b44b.png" Type="http://schemas.openxmlformats.org/officeDocument/2006/relationships/image" Id="rIdtb8CpB"/>
</rels:Relationships>

</file>

<file path=ppt/slides/_rels/slide_b8a7aa56-cc67-4e8e-8368-e9b6c4d4eb69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2WvBPc"/>
<rels:Relationship Target="../media/image_6178ed3b-c5ee-435c-81d6-ea6c49457765.png" Type="http://schemas.openxmlformats.org/officeDocument/2006/relationships/image" Id="rIdpOQHQc"/>
<rels:Relationship Target="../media/image_eb96e521-4e31-4ddf-9abf-402827daca6d.jpeg" Type="http://schemas.openxmlformats.org/officeDocument/2006/relationships/image" Id="rIdNEr8N3"/>
<rels:Relationship Target="../media/image_e2ad459e-abd2-4ff3-ae1d-7a8818f89af9.jpeg" Type="http://schemas.openxmlformats.org/officeDocument/2006/relationships/image" Id="rIdEXdWQ3"/>
</rels:Relationships>

</file>

<file path=ppt/slides/_rels/slide_b55008cc-9b17-446d-adf6-cc1e3a1ce6ba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uOBvwt"/>
<rels:Relationship Target="../media/image_6178ed3b-c5ee-435c-81d6-ea6c49457765.png" Type="http://schemas.openxmlformats.org/officeDocument/2006/relationships/image" Id="rIdVUr4PE"/>
<rels:Relationship Target="../media/image_cab5d814-db40-4e70-8f59-c527b94d49cf.jpeg" Type="http://schemas.openxmlformats.org/officeDocument/2006/relationships/image" Id="rIdqluR3v"/>
<rels:Relationship Target="../media/image_30778de7-836f-4377-a88a-3add86e97054.jpeg" Type="http://schemas.openxmlformats.org/officeDocument/2006/relationships/image" Id="rIdFBpT4s"/>
<rels:Relationship Target="../media/image_5b133aae-b5ed-484e-b8f7-d6dd1362daf8.jpeg" Type="http://schemas.openxmlformats.org/officeDocument/2006/relationships/image" Id="rId4fnUWk"/>
</rels:Relationships>

</file>

<file path=ppt/slides/_rels/slide_ba3f7627-1507-4bad-b189-564a36252b58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tOVyhT"/>
<rels:Relationship Target="../media/image_6178ed3b-c5ee-435c-81d6-ea6c49457765.png" Type="http://schemas.openxmlformats.org/officeDocument/2006/relationships/image" Id="rIdxNPvOk"/>
<rels:Relationship Target="../media/image_c3e6d73c-80b4-47a1-8f78-69a4f45cba80.jpeg" Type="http://schemas.openxmlformats.org/officeDocument/2006/relationships/image" Id="rIdqvhJ1Y"/>
</rels:Relationships>

</file>

<file path=ppt/slides/_rels/slide_c7645c59-c397-421b-a92b-b9ed5e6ded10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qi2sfk"/>
<rels:Relationship Target="../media/image_6178ed3b-c5ee-435c-81d6-ea6c49457765.png" Type="http://schemas.openxmlformats.org/officeDocument/2006/relationships/image" Id="rIdu6QRVx"/>
<rels:Relationship Target="../media/image_479720e4-a275-43a8-ac30-7d6b60fd919b.jpeg" Type="http://schemas.openxmlformats.org/officeDocument/2006/relationships/image" Id="rIdYbysFM"/>
<rels:Relationship Target="../media/image_a6fcef14-a055-4368-ad6f-ec714115bb4b.jpeg" Type="http://schemas.openxmlformats.org/officeDocument/2006/relationships/image" Id="rIdr3xFjD"/>
<rels:Relationship Target="../media/image_84023807-ac77-4ce6-a14d-579d04b07fc6.jpeg" Type="http://schemas.openxmlformats.org/officeDocument/2006/relationships/image" Id="rIdQSHXv4"/>
</rels:Relationships>

</file>

<file path=ppt/slides/_rels/slide_c62270dc-91c9-4f53-b538-05f5916a9c33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P2qCl3"/>
<rels:Relationship Target="../media/image_6178ed3b-c5ee-435c-81d6-ea6c49457765.png" Type="http://schemas.openxmlformats.org/officeDocument/2006/relationships/image" Id="rIdOqw7oT"/>
<rels:Relationship Target="../media/image_688a1ed9-e8d6-4f03-aeaa-b6c2de203adc.jpeg" Type="http://schemas.openxmlformats.org/officeDocument/2006/relationships/image" Id="rIdDgbCqR"/>
</rels:Relationships>

</file>

<file path=ppt/slides/_rels/slide_e7a39f35-4c83-43b9-b346-f0aa3ceec36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9Lm1uo"/>
<rels:Relationship Target="../media/image_6178ed3b-c5ee-435c-81d6-ea6c49457765.png" Type="http://schemas.openxmlformats.org/officeDocument/2006/relationships/image" Id="rIdscQDUC"/>
</rels:Relationships>

</file>

<file path=ppt/slides/_rels/slide_f91f00e4-a0a9-44e6-8008-e635899e006b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Ya7IyG"/>
<rels:Relationship Target="../media/image_04681266-fb3e-4ec9-9e88-1f9674ce0918.png" Type="http://schemas.openxmlformats.org/officeDocument/2006/relationships/image" Id="rIdEEhmEL"/>
<rels:Relationship Target="../media/image_4492f56a-f5be-455d-9ba8-fd9b58c0b44b.png" Type="http://schemas.openxmlformats.org/officeDocument/2006/relationships/image" Id="rIdq2Yb2O"/>
</rels:Relationships>

</file>

<file path=ppt/slides/_rels/slide_ff292ed2-014d-4e71-93a4-332c4cd8ae04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RiEhVb"/>
<rels:Relationship Target="../media/image_04681266-fb3e-4ec9-9e88-1f9674ce0918.png" Type="http://schemas.openxmlformats.org/officeDocument/2006/relationships/image" Id="rIdqjrzOA"/>
<rels:Relationship Target="../media/image_4492f56a-f5be-455d-9ba8-fd9b58c0b44b.png" Type="http://schemas.openxmlformats.org/officeDocument/2006/relationships/image" Id="rIdq1FiHd"/>
</rels:Relationships>

</file>

<file path=ppt/slides/_rels/slide_ff461153-12dc-4a09-ab1c-7bde1ac360ea.xml.rels><?xml version="1.0" encoding="UTF-8" standalone="yes"?>
<rels:Relationships xmlns:rels="http://schemas.openxmlformats.org/package/2006/relationships">
<rels:Relationship Target="../slideLayouts/slideLayout7.xml" Type="http://schemas.openxmlformats.org/officeDocument/2006/relationships/slideLayout" Id="rIdQMgFPc"/>
<rels:Relationship Target="../media/image_6178ed3b-c5ee-435c-81d6-ea6c49457765.png" Type="http://schemas.openxmlformats.org/officeDocument/2006/relationships/image" Id="rIdjWVgxP"/>
<rels:Relationship Target="../media/image_6196eafc-f786-4aac-ba7d-468c1f81efcd.png" Type="http://schemas.openxmlformats.org/officeDocument/2006/relationships/image" Id="rIdIobjBs"/>
</rels: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eyJfdGVtcGxhdGVEYXRhIjp7ImxpbmVDb3VudCI6IjQ3Iiwid29yZENvdW50IjoiMTA0In0sInRhZyI6Im5vRWRpdCJ9</bd:templateData>
          </p:ext>
        </p:extLst>
      </p:sp>
      <p:sp>
        <p:nvSpPr>
          <p:cNvPr id="100005" name="TextBox 3"/>
          <p:cNvSpPr txBox="1"/>
          <p:nvPr/>
        </p:nvSpPr>
        <p:spPr>
          <a:xfrm rot="0">
            <a:off x="943744" y="1873846"/>
            <a:ext cx="3773805" cy="20726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85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智慧储运解决方案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eyJfdGVtcGxhdGVEYXRhIjp7ImNvbnRlbnRUeXBlIjoiJHRpdGxlIiwibGluZUNvdW50IjoiMiIsIndvcmRDb3VudCI6IjMifSwidGFnIjoiJHRpdGxlIn0=</bd:templateData>
          </p:ext>
        </p:extLst>
      </p:sp>
      <p:sp>
        <p:nvSpPr>
          <p:cNvPr id="100029" name="Freeform 4"/>
          <p:cNvSpPr/>
          <p:nvPr/>
        </p:nvSpPr>
        <p:spPr>
          <a:xfrm rot="0">
            <a:off x="0" y="5053251"/>
            <a:ext cx="12192000" cy="1804748"/>
          </a:xfrm>
          <a:custGeom>
            <a:avLst/>
            <a:gdLst/>
            <a:ahLst/>
            <a:cxnLst/>
            <a:rect b="b" l="l" r="r" t="t"/>
            <a:pathLst>
              <a:path h="1804748" w="12192000">
                <a:moveTo>
                  <a:pt x="0" y="515939"/>
                </a:moveTo>
                <a:lnTo>
                  <a:pt x="12192000" y="515939"/>
                </a:lnTo>
                <a:lnTo>
                  <a:pt x="12192000" y="1804748"/>
                </a:lnTo>
                <a:lnTo>
                  <a:pt x="0" y="1804748"/>
                </a:lnTo>
                <a:close/>
              </a:path>
              <a:path h="1804748" w="12192000">
                <a:moveTo>
                  <a:pt x="11513609" y="0"/>
                </a:moveTo>
                <a:lnTo>
                  <a:pt x="11513609" y="515937"/>
                </a:lnTo>
                <a:lnTo>
                  <a:pt x="10997672" y="515937"/>
                </a:lnTo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eyJfdGVtcGxhdGVEYXRhIjp7ImxpbmVDb3VudCI6IjEyIiwid29yZENvdW50IjoiMTA0In0sInRhZyI6Im5vRWRpdCJ9</bd:templateData>
          </p:ext>
        </p:extLst>
      </p:sp>
      <p:sp>
        <p:nvSpPr>
          <p:cNvPr id="100013" name="AutoShape 5"/>
          <p:cNvSpPr/>
          <p:nvPr/>
        </p:nvSpPr>
        <p:spPr>
          <a:xfrm rot="0">
            <a:off x="2239519" y="549275"/>
            <a:ext cx="8088372" cy="179388"/>
          </a:xfrm>
          <a:prstGeom prst="roundRect">
            <a:avLst>
              <a:gd fmla="val 50000" name="adj"/>
            </a:avLst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eyJfdGVtcGxhdGVEYXRhIjp7ImxpbmVDb3VudCI6IjEiLCJ3b3JkQ291bnQiOiI2OCJ9LCJ0YWciOiJub0VkaXQifQ==</bd:templateData>
          </p:ext>
        </p:extLst>
      </p:sp>
      <p:sp>
        <p:nvSpPr>
          <p:cNvPr id="100014" name="AutoShape 6"/>
          <p:cNvSpPr/>
          <p:nvPr/>
        </p:nvSpPr>
        <p:spPr>
          <a:xfrm rot="0">
            <a:off x="10497505" y="549276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100030" name="AutoShape 7"/>
          <p:cNvSpPr/>
          <p:nvPr/>
        </p:nvSpPr>
        <p:spPr>
          <a:xfrm rot="0">
            <a:off x="10770305" y="549275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100031" name="AutoShape 8"/>
          <p:cNvSpPr/>
          <p:nvPr/>
        </p:nvSpPr>
        <p:spPr>
          <a:xfrm rot="0">
            <a:off x="11044487" y="549275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100032" name="AutoShape 9"/>
          <p:cNvSpPr/>
          <p:nvPr/>
        </p:nvSpPr>
        <p:spPr>
          <a:xfrm rot="0">
            <a:off x="11317287" y="549274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100011" name="TextBox 10"/>
          <p:cNvSpPr txBox="1"/>
          <p:nvPr/>
        </p:nvSpPr>
        <p:spPr>
          <a:xfrm rot="0">
            <a:off x="3513046" y="4130766"/>
            <a:ext cx="1552575" cy="476250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2026-07-24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eyJfdGVtcGxhdGVEYXRhIjp7ImNvbnRlbnRUeXBlIjoiJERhdGUiLCJsaW5lQ291bnQiOiIxIiwid29yZENvdW50IjoiNCJ9LCJ0YWciOiJub0VkaXQifQ==</bd:templateData>
          </p:ext>
        </p:extLst>
      </p:sp>
      <p:sp>
        <p:nvSpPr>
          <p:cNvPr id="100010" name="AutoShape 11"/>
          <p:cNvSpPr/>
          <p:nvPr/>
        </p:nvSpPr>
        <p:spPr>
          <a:xfrm rot="0">
            <a:off x="717226" y="425624"/>
            <a:ext cx="1190942" cy="448734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eyJfdGVtcGxhdGVEYXRhIjp7ImxpbmVDb3VudCI6IjIiLCJ3b3JkQ291bnQiOiI3In0sInRhZyI6Im5vRWRpdCJ9</bd:templateData>
          </p:ext>
        </p:extLst>
      </p:sp>
      <p:sp>
        <p:nvSpPr>
          <p:cNvPr id="100034" name="TextBox 12"/>
          <p:cNvSpPr txBox="1"/>
          <p:nvPr/>
        </p:nvSpPr>
        <p:spPr>
          <a:xfrm rot="0">
            <a:off x="918452" y="407738"/>
            <a:ext cx="788491" cy="4128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20XX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00035" name="AutoShape 13"/>
          <p:cNvSpPr/>
          <p:nvPr/>
        </p:nvSpPr>
        <p:spPr>
          <a:xfrm rot="20862818">
            <a:off x="696061" y="428439"/>
            <a:ext cx="1190942" cy="448734"/>
          </a:xfrm>
          <a:prstGeom prst="ellipse">
            <a:avLst/>
          </a:prstGeom>
          <a:noFill/>
          <a:ln w="12700">
            <a:solidFill>
              <a:srgbClr val="4588DA">
                <a:alpha val="100000"/>
              </a:srgb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eyJfdGVtcGxhdGVEYXRhIjp7ImxpbmVDb3VudCI6IjIiLCJ3b3JkQ291bnQiOiI3In0sInRhZyI6Im5vRWRpdCJ9</bd:templateData>
          </p:ext>
        </p:extLst>
      </p:sp>
      <p:grpSp>
        <p:nvGrpSpPr>
          <p:cNvPr id="100020" name="Group 14"/>
          <p:cNvGrpSpPr/>
          <p:nvPr/>
        </p:nvGrpSpPr>
        <p:grpSpPr>
          <a:xfrm rot="0">
            <a:off x="695325" y="6019609"/>
            <a:ext cx="1065276" cy="438912"/>
            <a:chOff x="695325" y="6019609"/>
            <a:chExt cx="1065276" cy="438912"/>
          </a:xfrm>
        </p:grpSpPr>
        <p:sp>
          <p:nvSpPr>
            <p:cNvPr id="100055" name="Freeform 15"/>
            <p:cNvSpPr/>
            <p:nvPr/>
          </p:nvSpPr>
          <p:spPr>
            <a:xfrm rot="0">
              <a:off x="695325" y="6022943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100057" name="Freeform 16"/>
            <p:cNvSpPr/>
            <p:nvPr/>
          </p:nvSpPr>
          <p:spPr>
            <a:xfrm rot="0">
              <a:off x="1107281" y="6019609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100058" name="Freeform 17"/>
            <p:cNvSpPr/>
            <p:nvPr/>
          </p:nvSpPr>
          <p:spPr>
            <a:xfrm rot="0">
              <a:off x="1519333" y="6019609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100059" name="AutoShape 18"/>
          <p:cNvSpPr/>
          <p:nvPr/>
        </p:nvSpPr>
        <p:spPr>
          <a:xfrm rot="0">
            <a:off x="7151571" y="6031905"/>
            <a:ext cx="4446566" cy="40011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FINANCIAL REPORT TEMPLATE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cxnSp>
        <p:nvCxnSpPr>
          <p:cNvPr id="19" name="Connector 19"/>
          <p:cNvCxnSpPr/>
          <p:nvPr/>
        </p:nvCxnSpPr>
        <p:spPr>
          <a:xfrm>
            <a:off x="2109584" y="6223817"/>
            <a:ext cx="4460852" cy="0"/>
          </a:xfrm>
          <a:prstGeom prst="line">
            <a:avLst/>
          </a:prstGeom>
          <a:ln w="12700">
            <a:solidFill>
              <a:schemeClr val="lt1"/>
            </a:solidFill>
            <a:prstDash val="solid"/>
            <a:headEnd type="none"/>
            <a:tailEnd type="triangle"/>
          </a:ln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100065" name="Freeform 20"/>
          <p:cNvSpPr/>
          <p:nvPr/>
        </p:nvSpPr>
        <p:spPr>
          <a:xfrm rot="5400000">
            <a:off x="7521653" y="3412645"/>
            <a:ext cx="332942" cy="332709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00036" name="Freeform 21"/>
          <p:cNvSpPr/>
          <p:nvPr/>
        </p:nvSpPr>
        <p:spPr>
          <a:xfrm rot="2689890">
            <a:off x="7036774" y="6095304"/>
            <a:ext cx="255671" cy="255671"/>
          </a:xfrm>
          <a:custGeom>
            <a:avLst/>
            <a:gdLst/>
            <a:ahLst/>
            <a:cxnLst/>
            <a:rect b="b" l="l" r="r" t="t"/>
            <a:pathLst>
              <a:path h="255671" w="255671">
                <a:moveTo>
                  <a:pt x="100788" y="0"/>
                </a:moveTo>
                <a:lnTo>
                  <a:pt x="100788" y="100788"/>
                </a:lnTo>
                <a:lnTo>
                  <a:pt x="0" y="100788"/>
                </a:lnTo>
                <a:lnTo>
                  <a:pt x="0" y="154883"/>
                </a:lnTo>
                <a:lnTo>
                  <a:pt x="100788" y="154883"/>
                </a:lnTo>
                <a:lnTo>
                  <a:pt x="100788" y="255671"/>
                </a:lnTo>
                <a:lnTo>
                  <a:pt x="154883" y="255671"/>
                </a:lnTo>
                <a:lnTo>
                  <a:pt x="154883" y="154883"/>
                </a:lnTo>
                <a:lnTo>
                  <a:pt x="255671" y="154883"/>
                </a:lnTo>
                <a:lnTo>
                  <a:pt x="255671" y="100788"/>
                </a:lnTo>
                <a:lnTo>
                  <a:pt x="154883" y="100788"/>
                </a:lnTo>
                <a:lnTo>
                  <a:pt x="154883" y="0"/>
                </a:lnTo>
              </a:path>
            </a:pathLst>
          </a:custGeom>
          <a:solidFill>
            <a:schemeClr val="lt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eyJfdGVtcGxhdGVEYXRhIjp7ImxpbmVDb3VudCI6IjEiLCJ3b3JkQ291bnQiOiIifSwidGFnIjoibm9FZGl0In0=</bd:templateData>
          </p:ext>
        </p:extLst>
      </p:sp>
      <p:sp>
        <p:nvSpPr>
          <p:cNvPr id="100064" name="Freeform 22"/>
          <p:cNvSpPr/>
          <p:nvPr/>
        </p:nvSpPr>
        <p:spPr>
          <a:xfrm rot="5400000">
            <a:off x="10946731" y="1517440"/>
            <a:ext cx="672947" cy="672477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eyJfdGVtcGxhdGVEYXRhIjp7ImxpbmVDb3VudCI6IjQiLCJ3b3JkQ291bnQiOiIzIn0sInRhZyI6Im5vRWRpdCJ9</bd:templateData>
          </p:ext>
        </p:extLst>
      </p:sp>
      <p:sp>
        <p:nvSpPr>
          <p:cNvPr id="100028" name="AutoShape 23"/>
          <p:cNvSpPr/>
          <p:nvPr/>
        </p:nvSpPr>
        <p:spPr>
          <a:xfrm rot="0">
            <a:off x="1055687" y="4095725"/>
            <a:ext cx="2297113" cy="518160"/>
          </a:xfrm>
          <a:prstGeom prst="snip1Rect">
            <a:avLst>
              <a:gd fmla="val 3273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eyJfdGVtcGxhdGVEYXRhIjp7ImxpbmVDb3VudCI6IjMiLCJ3b3JkQ291bnQiOiIxNyJ9LCJ0YWciOiJub0VkaXQifQ==</bd:templateData>
          </p:ext>
        </p:extLst>
      </p:sp>
      <p:sp>
        <p:nvSpPr>
          <p:cNvPr id="100033" name="AutoShape 24"/>
          <p:cNvSpPr/>
          <p:nvPr/>
        </p:nvSpPr>
        <p:spPr>
          <a:xfrm rot="0">
            <a:off x="1059496" y="4143547"/>
            <a:ext cx="2238428" cy="461665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汇报人：文小库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eyJfdGVtcGxhdGVEYXRhIjp7ImNvbnRlbnRUeXBlIjoiJHJlcG9ydGVyX2F1dGhvciIsImxpbmVDb3VudCI6IjEiLCJ3b3JkQ291bnQiOiI2In0sInRhZyI6Im5vRWRpdCJ9</bd:templateData>
          </p:ext>
        </p:extLst>
      </p:sp>
      <p:sp>
        <p:nvSpPr>
          <p:cNvPr id="100038" name="Freeform 25"/>
          <p:cNvSpPr/>
          <p:nvPr/>
        </p:nvSpPr>
        <p:spPr>
          <a:xfrm rot="5400000">
            <a:off x="5083174" y="2094735"/>
            <a:ext cx="432041" cy="431739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eyJfdGVtcGxhdGVEYXRhIjp7ImxpbmVDb3VudCI6IjIiLCJ3b3JkQ291bnQiOiIyIn0sInRhZyI6Im5vRWRpdCJ9</bd:templateData>
          </p:ext>
        </p:extLst>
      </p:sp>
      <p:pic>
        <p:nvPicPr>
          <p:cNvPr id="100018" name="Picture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0">
            <a:off x="5883969" y="2310604"/>
            <a:ext cx="2921984" cy="2700228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pic>
        <p:nvPicPr>
          <p:cNvPr id="100002" name="Picture 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0">
            <a:off x="7176339" y="1031461"/>
            <a:ext cx="4047840" cy="498928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eyJtZCI6IuaZuuaFp+WCqOi/kOino+WGs+aWueahiCIsInRwbGlkIjoiMTAyNDg1IiwidHBsTmFtZSI6InRpdGxlX2NodWFuZ2tldGllMDAyIiwiZWRpdGVkIjoiZmFsc2UifQ==</bd:templateData>
    </p:ext>
  </p:extLst>
</p:sld>
</file>

<file path=ppt/slides/slide_02c208f9-bdd7-45a9-a6c4-a5558b555dc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g58EPL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系统架构设计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1z9wy2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eyJtZCI6IiMjIOezu+e7n+aetuaehOiuvuiuoSIsInRwbGlkIjoiMTAyNDg1IiwidHBsTmFtZSI6ImgydGl0bGVfY2h1YW5na2V0aWUwMDIiLCJlZGl0ZWQiOiJmYWxzZSJ9</bd:templateData>
    </p:ext>
  </p:extLst>
</p:sld>
</file>

<file path=ppt/slides/slide_2bfe1287-9eba-4808-9d92-4479e1dee74f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QsI5OX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行业应用价值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escF5a">
            <a:alphaModFix amt="100000"/>
          </a:blip>
          <a:srcRect/>
          <a:stretch>
            <a:fillRect/>
          </a:stretch>
        </p:blipFill>
        <p:spPr>
          <a:xfrm flipH="0" rot="0"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ZGkRqh">
            <a:alphaModFix amt="100000"/>
          </a:blip>
          <a:srcRect b="7308" l="0" t="7308"/>
          <a:stretch>
            <a:fillRect/>
          </a:stretch>
        </p:blipFill>
        <p:spPr>
          <a:xfrm flipH="0" rot="0"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 rot="0"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降低运营成本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4099978" y="2110737"/>
            <a:ext cx="3431205" cy="1270638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通过自动化设备和智能调度减少人工依赖，优化能源消耗，显著降低仓储物流的综合管理成本。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eyJfdGVtcGxhdGVEYXRhIjp7ImNvbnRlbnRUeXBlIjoiJGl0ZW0xX2MiLCJsaW5lQ291bnQiOiI0Iiwid29yZENvdW50IjoiMTgifSwidGFnIjoiJGl0ZW0xX2MifQ==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增强决策科学性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099978" y="4470242"/>
            <a:ext cx="3431205" cy="1276624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基于大数据分析和预测模型，为库存管理、补货计划等提供数据支撑，减少决策偏差风险。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eyJfdGVtcGxhdGVEYXRhIjp7ImNvbnRlbnRUeXBlIjoiJGl0ZW0zX2MiLCJsaW5lQ291bnQiOiI0Iiwid29yZENvdW50IjoiMTgifSwidGFnIjoiJGl0ZW0zX2MifQ==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anchor="t" anchorCtr="1" bIns="45720" lIns="95250" rIns="91440" rtlCol="0" tIns="45720" vert="horz" wrap="square">
            <a:noAutofit/>
          </a:bodyPr>
          <a:lstStyle/>
          <a:p>
            <a:pPr algn="l"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提升作业效率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7996869" y="2110737"/>
            <a:ext cx="3431205" cy="1270638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利用AGV、智能分拣机器人等技术实现24小时高效作业，缩短50%以上的订单处理周期。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hjOS4muW6lOeUqOS7t+WAvFxuIyMjIOmZjeS9jui/kOiQpeaIkOacrFxu6YCa6L+H6Ieq5Yqo5YyW6K6+5aSH5ZKM5pm66IO96LCD5bqm5YeP5bCR5Lq65bel5L6d6LWW77yM5LyY5YyW6IO95rqQ5raI6ICX77yM5pi+6JGX6ZmN5L2O5LuT5YKo54mp5rWB55qE57u85ZCI566h55CG5oiQ5pys44CCXG4jIyMg5o+Q5Y2H5L2c5Lia5pWI546HXG7liKnnlKhBR1bjgIHmmbrog73liIbmi6PmnLrlmajkurrnrYnmioDmnK/lrp7njrAyNOWwj+aXtumrmOaViOS9nOS4mu+8jOe8qeefrTUwJeS7peS4iueahOiuouWNleWkhOeQhuWRqOacn+OAglxuIyMjIOWinuW8uuWGs+etluenkeWtpuaAp1xu5Z+65LqO5aSn5pWw5o2u5YiG5p6Q5ZKM6aKE5rWL5qih5Z6L77yM5Li65bqT5a2Y566h55CG44CB6KGl6LSn6K6h5YiS562J5o+Q5L6b5pWw5o2u5pSv5pKR77yM5YeP5bCR5Yaz562W5YGP5beu6aOO6Zmp44CCIiwidHBsaWQiOiIxMDI0ODUiLCJ0cGxOYW1lIjoibGlzdDNfMjAyNTA3MDEwMiIsImVkaXRlZCI6ImZhbHNlIn0=</bd:templateData>
    </p:ext>
  </p:extLst>
</p:sld>
</file>

<file path=ppt/slides/slide_5c1501f4-3f65-46a5-8cb5-a7126231386e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8783up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5133975" y="3111977"/>
            <a:ext cx="1394901" cy="634046"/>
          </a:xfrm>
          <a:prstGeom prst="triangl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0" y="0"/>
            <a:ext cx="551840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技术发展背景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6320801" y="2912195"/>
            <a:ext cx="5048887" cy="674827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计算机视觉和深度学习技术应用于粮食无损检测，可识别霉变、水分异常等品质问题，准确率达行业领先水平。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eyJfdGVtcGxhdGVEYXRhIjp7ImNvbnRlbnRUeXBlIjoiJGl0ZW0yX2MiLCJsaW5lQ291bnQiOiIyIiwid29yZENvdW50IjoiMjYifSwidGFnIjoiJGl0ZW0yX2MifQ==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6320801" y="1552233"/>
            <a:ext cx="5048887" cy="632410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RFID、环境传感器等设备的普及为粮情实时监测提供了硬件基础，实现温湿度、虫害等关键指标的精准采集。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eyJfdGVtcGxhdGVEYXRhIjp7ImNvbnRlbnRUeXBlIjoiJGl0ZW0xX2MiLCJsaW5lQ291bnQiOiIyIiwid29yZENvdW50IjoiMjYifSwidGFnIjoiJGl0ZW0xX2MifQ==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6320801" y="4240817"/>
            <a:ext cx="5048887" cy="660590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立体仓库（AS/RS）、无人叉车等自动化设备的成本下降，推动大中型粮库智能化改造进程加速。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eyJfdGVtcGxhdGVEYXRhIjp7ImNvbnRlbnRUeXBlIjoiJGl0ZW0zX2MiLCJsaW5lQ291bnQiOiIyIiwid29yZENvdW50IjoiMjYifSwidGFnIjoiJGl0ZW0zX2MifQ==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6320801" y="5594674"/>
            <a:ext cx="5048887" cy="660590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国家粮食安全战略对储运环节提出"动态调控"要求，促使行业加快数字化转型步伐。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eyJfdGVtcGxhdGVEYXRhIjp7ImNvbnRlbnRUeXBlIjoiJGl0ZW00X2MiLCJsaW5lQ291bnQiOiIyIiwid29yZENvdW50IjoiMjYifSwidGFnIjoiJGl0ZW00X2MifQ==</bd:templateData>
          </p:ext>
        </p:extLst>
      </p:sp>
      <p:cxnSp>
        <p:nvCxnSpPr>
          <p:cNvPr id="9" name="Connector 9"/>
          <p:cNvCxnSpPr/>
          <p:nvPr/>
        </p:nvCxnSpPr>
        <p:spPr>
          <a:xfrm>
            <a:off x="6440470" y="2438060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id="10" name="Connector 10"/>
          <p:cNvCxnSpPr/>
          <p:nvPr/>
        </p:nvCxnSpPr>
        <p:spPr>
          <a:xfrm>
            <a:off x="6449960" y="3753923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cxnSp>
        <p:nvCxnSpPr>
          <p:cNvPr id="11" name="Connector 11"/>
          <p:cNvCxnSpPr/>
          <p:nvPr/>
        </p:nvCxnSpPr>
        <p:spPr>
          <a:xfrm>
            <a:off x="6449960" y="5081946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4MbWVy">
            <a:alphaModFix amt="100000"/>
          </a:blip>
          <a:srcRect l="5542" r="5542"/>
          <a:stretch>
            <a:fillRect/>
          </a:stretch>
        </p:blipFill>
        <p:spPr>
          <a:xfrm flipH="0" rot="0">
            <a:off x="1317535" y="1990725"/>
            <a:ext cx="2876550" cy="28765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13" name="AutoShape 13"/>
          <p:cNvSpPr/>
          <p:nvPr/>
        </p:nvSpPr>
        <p:spPr>
          <a:xfrm rot="0">
            <a:off x="6450879" y="1179728"/>
            <a:ext cx="4282862" cy="45473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物联网技术成熟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eyJfdGVtcGxhdGVEYXRhIjp7ImNvbnRlbnRUeXBlIjoiJGl0ZW0xX3RpdGxlIiwibGluZUNvdW50IjoiMSIsIndvcmRDb3VudCI6IjE2In0sInRhZyI6IiRpdGVtMV90aXRsZSJ9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6450879" y="2575756"/>
            <a:ext cx="4282862" cy="45473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人工智能突破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eyJfdGVtcGxhdGVEYXRhIjp7ImNvbnRlbnRUeXBlIjoiJGl0ZW0yX3RpdGxlIiwibGluZUNvdW50IjoiMSIsIndvcmRDb3VudCI6IjE2In0sInRhZyI6IiRpdGVtMl90aXRsZSJ9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6450879" y="3899082"/>
            <a:ext cx="4282862" cy="45473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自动化设备升级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eyJfdGVtcGxhdGVEYXRhIjp7ImNvbnRlbnRUeXBlIjoiJGl0ZW0zX3RpdGxlIiwibGluZUNvdW50IjoiMSIsIndvcmRDb3VudCI6IjE2In0sInRhZyI6IiRpdGVtM190aXRsZSJ9</bd:templateData>
          </p:ext>
        </p:extLst>
      </p:sp>
      <p:sp>
        <p:nvSpPr>
          <p:cNvPr id="16" name="AutoShape 16"/>
          <p:cNvSpPr/>
          <p:nvPr/>
        </p:nvSpPr>
        <p:spPr>
          <a:xfrm rot="0">
            <a:off x="6450879" y="5195893"/>
            <a:ext cx="4282862" cy="45473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18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政策驱动需求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eyJfdGVtcGxhdGVEYXRhIjp7ImNvbnRlbnRUeXBlIjoiJGl0ZW00X3RpdGxlIiwibGluZUNvdW50IjoiMSIsIndvcmRDb3VudCI6IjE2In0sInRhZyI6IiRpdGVtNF90aXRsZSJ9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KgOacr+WPkeWxleiDjOaZr1xuIyMjIOeJqeiBlOe9keaKgOacr+aIkOeGn1xuUkZJROOAgeeOr+Wig+S8oOaEn+WZqOetieiuvuWkh+eahOaZruWPiuS4uueyruaDheWunuaXtuebkea1i+aPkOS+m+S6huehrOS7tuWfuuehgO+8jOWunueOsOa4qea5v+W6puOAgeiZq+Wus+etieWFs+mUruaMh+agh+eahOeyvuWHhumHh+mbhuOAglxuIyMjIOS6uuW3peaZuuiDveeqgeegtFxu6K6h566X5py66KeG6KeJ5ZKM5rex5bqm5a2m5Lmg5oqA5pyv5bqU55So5LqO57Ku6aOf5peg5o2f5qOA5rWL77yM5Y+v6K+G5Yir6ZyJ5Y+Y44CB5rC05YiG5byC5bi4562J5ZOB6LSo6Zeu6aKY77yM5YeG56Gu546H6L6+6KGM5Lia6aKG5YWI5rC05bmz44CCXG4jIyMg6Ieq5Yqo5YyW6K6+5aSH5Y2H57qnXG7nq4vkvZPku5PlupPvvIhBUy9SU++8ieOAgeaXoOS6uuWPiei9puetieiHquWKqOWMluiuvuWkh+eahOaIkOacrOS4i+mZje+8jOaOqOWKqOWkp+S4reWei+eyruW6k+aZuuiDveWMluaUuemAoOi/m+eoi+WKoOmAn+OAglxuIyMjIOaUv+etlumpseWKqOmcgOaxglxu5Zu95a6257Ku6aOf5a6J5YWo5oiY55Wl5a+55YKo6L+Q546v6IqC5o+Q5Ye6XCLliqjmgIHosIPmjqdcIuimgeaxgu+8jOS/g+S9v+ihjOS4muWKoOW/q+aVsOWtl+WMlui9rOWei+atpeS8kOOAgiIsInRwbGlkIjoiMTAyNDg1IiwidHBsTmFtZSI6Imxpc3Q0XzIwMjUwNjI2MDgiLCJlZGl0ZWQiOiJmYWxzZSJ9</bd:templateData>
    </p:ext>
  </p:extLst>
</p:sld>
</file>

<file path=ppt/slides/slide_6c85e879-3332-4d38-9895-3a8f9052fb6d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X51Kmn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4489734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650433" y="4077545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4489734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650433" y="1474577"/>
            <a:ext cx="3273285" cy="690150"/>
          </a:xfrm>
          <a:prstGeom prst="roundRect">
            <a:avLst>
              <a:gd fmla="val 28096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m7D8aE">
            <a:alphaModFix amt="100000"/>
          </a:blip>
          <a:srcRect l="12500" r="12500"/>
          <a:stretch>
            <a:fillRect/>
          </a:stretch>
        </p:blipFill>
        <p:spPr>
          <a:xfrm rot="0">
            <a:off x="8293144" y="1482730"/>
            <a:ext cx="3422379" cy="4563172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sp>
        <p:nvSpPr>
          <p:cNvPr id="7" name="TextBox 7"/>
          <p:cNvSpPr txBox="1"/>
          <p:nvPr/>
        </p:nvSpPr>
        <p:spPr>
          <a:xfrm rot="0">
            <a:off x="570176" y="2177640"/>
            <a:ext cx="3433799" cy="1765443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采用旷视自主研发的穿梭车设备，支持横向/纵向多维度移动，可任意切换作业巷道，空间利用率较传统仓库提升40%。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409477" y="2177640"/>
            <a:ext cx="3433799" cy="1765443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不受建筑立柱间距限制，支持异形库区改造，货架高度可达30米且载重1500kg，适配食品、医药等行业重型货物存储。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570176" y="4795955"/>
            <a:ext cx="3433799" cy="1648894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通过WCS系统智能分配存储位置，高频货物自动前置至近端货位，降低平均存取耗时15%-20%。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4407114" y="4795955"/>
            <a:ext cx="3438525" cy="1648894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穿梭车采用模块化易损件设计，支持热插拔更换，平均故障修复时间（MTTR）控制在30分钟以内。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密集库存储方案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838067" y="1502085"/>
            <a:ext cx="2898018" cy="635136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四向穿梭车技术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4677367" y="1502085"/>
            <a:ext cx="2898018" cy="635136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柔性化布局能力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38067" y="4105052"/>
            <a:ext cx="2898018" cy="635136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动态库存优化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4677367" y="4105052"/>
            <a:ext cx="2898018" cy="635136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0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低维护成本设计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vhumbhuW6k+WtmOWCqOaWueahiFxuIyMjIOWbm+WQkeepv+airei9puaKgOacr1xu6YeH55So5pe36KeG6Ieq5Li756CU5Y+R55qE56m/5qKt6L2m6K6+5aSH77yM5pSv5oyB5qiq5ZCRL+e6teWQkeWkmue7tOW6puenu+WKqO+8jOWPr+S7u+aEj+WIh+aNouS9nOS4muW3t+mBk++8jOepuumXtOWIqeeUqOeOh+i+g+S8oOe7n+S7k+W6k+aPkOWNhzQwJeOAglxuIyMjIOaflOaAp+WMluW4g+WxgOiDveWKm1xu5LiN5Y+X5bu6562R56uL5p+x6Ze06Led6ZmQ5Yi277yM5pSv5oyB5byC5b2i5bqT5Yy65pS56YCg77yM6LSn5p626auY5bqm5Y+v6L6+MzDnsbPkuJTovb3ph40xNTAwa2fvvIzpgILphY3po5/lk4HjgIHljLvoja/nrYnooYzkuJrph43lnovotKfnianlrZjlgqjjgIJcbiMjIyDliqjmgIHlupPlrZjkvJjljJZcbumAmui/h1dDU+ezu+e7n+aZuuiDveWIhumFjeWtmOWCqOS9jee9ru+8jOmrmOmikei0p+eJqeiHquWKqOWJjee9ruiHs+i/keerr+i0p+S9je+8jOmZjeS9juW5s+Wdh+WtmOWPluiAl+aXtjE1JS0yMCXjgIJcbiMjIyDkvY7nu7TmiqTmiJDmnKzorr7orqFcbuepv+airei9pumHh+eUqOaooeWdl+WMluaYk+aNn+S7tuiuvuiuoe+8jOaUr+aMgeeDreaPkuaLlOabtOaNou+8jOW5s+Wdh+aVhemanOS/ruWkjeaXtumXtO+8iE1UVFLvvInmjqfliLblnKgzMOWIhumSn+S7peWGheOAgiIsInRwbGlkIjoiMTAyNDg1IiwidHBsTmFtZSI6Imxpc3Q0X0ltZzEiLCJlZGl0ZWQiOiJmYWxzZSJ9</bd:templateData>
    </p:ext>
  </p:extLst>
</p:sld>
</file>

<file path=ppt/slides/slide_10db06ec-3b35-472d-a979-8ab42cfca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phUv2f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移动机器人（AGV/AMR）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UNN6sh">
            <a:alphaModFix amt="100000"/>
          </a:blip>
          <a:srcRect l="22876" r="22876"/>
          <a:stretch>
            <a:fillRect/>
          </a:stretch>
        </p:blipFill>
        <p:spPr>
          <a:xfrm rot="0"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rxr3Wa">
            <a:alphaModFix amt="100000"/>
          </a:blip>
          <a:srcRect l="26243" r="26243"/>
          <a:stretch>
            <a:fillRect/>
          </a:stretch>
        </p:blipFill>
        <p:spPr>
          <a:xfrm rot="0"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5" name="AutoShape 5"/>
          <p:cNvSpPr/>
          <p:nvPr/>
        </p:nvSpPr>
        <p:spPr>
          <a:xfrm rot="0">
            <a:off x="5335151" y="1339414"/>
            <a:ext cx="6203645" cy="292757"/>
          </a:xfrm>
          <a:prstGeom prst="roundRect">
            <a:avLst>
              <a:gd fmla="val 45455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多机协同调度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609373" y="1732534"/>
            <a:ext cx="4282862" cy="983867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基于集中式控制系统实现AGV集群任务分配与路径优化，支持50+台机器人同时作业，动态避障确保高密度仓储环境下的运行安全。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eyJfdGVtcGxhdGVEYXRhIjp7ImNvbnRlbnRUeXBlIjoiJGl0ZW0xX2MiLCJsaW5lQ291bnQiOiIzIiwid29yZENvdW50IjoiMjIifSwidGFnIjoiJGl0ZW0xX2MifQ==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609373" y="3369312"/>
            <a:ext cx="4282862" cy="1010481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AMR搭载3D视觉+SLAM算法，无需铺设磁条或二维码即可构建地图，适应柔性化产线布局变更需求。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eyJfdGVtcGxhdGVEYXRhIjp7ImNvbnRlbnRUeXBlIjoiJGl0ZW0yX2MiLCJsaW5lQ291bnQiOiIzIiwid29yZENvdW50IjoiMjIifSwidGFnIjoiJGl0ZW0yX2MifQ==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609373" y="5010231"/>
            <a:ext cx="4282862" cy="1156860"/>
          </a:xfrm>
          <a:prstGeom prst="rect">
            <a:avLst/>
          </a:prstGeom>
          <a:ln/>
        </p:spPr>
        <p:txBody>
          <a:bodyPr anchor="t" anchorCtr="0" bIns="57150" lIns="9525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采用UWB精准定位与声光警示系统，当检测到3米内有人员靠近时自动降速，满足汽车零部件等重型物料搬运场景的安全标准。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eyJfdGVtcGxhdGVEYXRhIjp7ImNvbnRlbnRUeXBlIjoiJGl0ZW0zX2MiLCJsaW5lQ291bnQiOiIzIiwid29yZENvdW50IjoiMjIifSwidGFnIjoiJGl0ZW0zX2MifQ==</bd:templateData>
          </p:ext>
        </p:extLst>
      </p:sp>
      <p:sp>
        <p:nvSpPr>
          <p:cNvPr id="10" name="AutoShape 10"/>
          <p:cNvSpPr/>
          <p:nvPr/>
        </p:nvSpPr>
        <p:spPr>
          <a:xfrm rot="0"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视觉自主导航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325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人机混场作业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nu+WKqOacuuWZqOS6uu+8iEFHVi9BTVLvvIlcbiMjIyDlpJrmnLrljY/lkIzosIPluqZcbuWfuuS6jumbhuS4reW8j+aOp+WItuezu+e7n+WunueOsEFHVumbhue+pOS7u+WKoeWIhumFjeS4jui3r+W+hOS8mOWMlu+8jOaUr+aMgTUwK+WPsOacuuWZqOS6uuWQjOaXtuS9nOS4mu+8jOWKqOaAgemBv+manOehruS/nemrmOWvhuW6puS7k+WCqOeOr+Wig+S4i+eahOi/kOihjOWuieWFqOOAglxuIyMjIOinhuinieiHquS4u+WvvOiIqlxuQU1S5pCt6L29M0Top4bop4krU0xBTeeul+azle+8jOaXoOmcgOmTuuiuvuejgeadoeaIluS6jOe7tOeggeWNs+WPr+aehOW7uuWcsOWbvu+8jOmAguW6lOaflOaAp+WMluS6p+e6v+W4g+WxgOWPmOabtOmcgOaxguOAglxuIyMjIOS6uuacuua3t+WcuuS9nOS4mlxu6YeH55SoVVdC57K+5YeG5a6a5L2N5LiO5aOw5YWJ6K2m56S657O757uf77yM5b2T5qOA5rWL5YiwM+exs+WGheacieS6uuWRmOmdoOi/keaXtuiHquWKqOmZjemAn++8jOa7oei2s+axvei9pumbtumDqOS7tuetiemHjeWei+eJqeaWmeaQrOi/kOWcuuaZr+eahOWuieWFqOagh+WHhuOAgiIsInRwbGlkIjoiMTAyNDg1IiwidHBsTmFtZSI6Imxpc3QzXzIwMjUwNzAzMTYiLCJlZGl0ZWQiOiJmYWxzZSJ9</bd:templateData>
    </p:ext>
  </p:extLst>
</p:sld>
</file>

<file path=ppt/slides/slide_14ff6ba1-bbbd-4c88-808b-0c7c47492b4e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vJwxum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043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eyJfdGVtcGxhdGVEYXRhIjp7ImxpbmVDb3VudCI6IjQ3Iiwid29yZENvdW50IjoiMTA0In0sInRhZyI6Im5vRWRpdCJ9</bd:templateData>
          </p:ext>
        </p:extLst>
      </p:sp>
      <p:sp>
        <p:nvSpPr>
          <p:cNvPr id="800090" name="Freeform 3"/>
          <p:cNvSpPr/>
          <p:nvPr/>
        </p:nvSpPr>
        <p:spPr>
          <a:xfrm rot="0">
            <a:off x="9901756" y="5195116"/>
            <a:ext cx="2290244" cy="1662884"/>
          </a:xfrm>
          <a:custGeom>
            <a:avLst/>
            <a:gdLst/>
            <a:ahLst/>
            <a:cxnLst/>
            <a:rect b="b" l="l" r="r" t="t"/>
            <a:pathLst>
              <a:path h="1662884" w="2290244">
                <a:moveTo>
                  <a:pt x="1670782" y="1765"/>
                </a:moveTo>
                <a:cubicBezTo>
                  <a:pt x="1848227" y="-9140"/>
                  <a:pt x="2041173" y="30950"/>
                  <a:pt x="2227329" y="109174"/>
                </a:cubicBezTo>
                <a:lnTo>
                  <a:pt x="2290244" y="139090"/>
                </a:lnTo>
                <a:lnTo>
                  <a:pt x="2290244" y="1662884"/>
                </a:lnTo>
                <a:lnTo>
                  <a:pt x="0" y="1662884"/>
                </a:lnTo>
                <a:lnTo>
                  <a:pt x="8099" y="1631536"/>
                </a:lnTo>
                <a:cubicBezTo>
                  <a:pt x="236683" y="905535"/>
                  <a:pt x="993975" y="140627"/>
                  <a:pt x="1540953" y="19706"/>
                </a:cubicBezTo>
                <a:cubicBezTo>
                  <a:pt x="1583028" y="10405"/>
                  <a:pt x="1626421" y="4491"/>
                  <a:pt x="1670782" y="1765"/>
                </a:cubicBezTo>
              </a:path>
            </a:pathLst>
          </a:custGeom>
          <a:solidFill>
            <a:srgbClr val="FEB83A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eyJfdGVtcGxhdGVEYXRhIjp7ImxpbmVDb3VudCI6IjExIiwid29yZENvdW50IjoiMTcifSwidGFnIjoibm9FZGl0In0=</bd:templateData>
          </p:ext>
        </p:extLst>
      </p:sp>
      <p:sp>
        <p:nvSpPr>
          <p:cNvPr id="800051" name="AutoShape 4"/>
          <p:cNvSpPr/>
          <p:nvPr/>
        </p:nvSpPr>
        <p:spPr>
          <a:xfrm rot="16200000">
            <a:off x="6818523" y="1030014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52" name="AutoShape 5"/>
          <p:cNvSpPr/>
          <p:nvPr/>
        </p:nvSpPr>
        <p:spPr>
          <a:xfrm rot="5400000">
            <a:off x="8993219" y="-330076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53" name="TextBox 6"/>
          <p:cNvSpPr txBox="1"/>
          <p:nvPr/>
        </p:nvSpPr>
        <p:spPr>
          <a:xfrm rot="0">
            <a:off x="6906310" y="1218720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54" name="TextBox 7"/>
          <p:cNvSpPr txBox="1"/>
          <p:nvPr/>
        </p:nvSpPr>
        <p:spPr>
          <a:xfrm rot="0">
            <a:off x="8034303" y="1218323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智慧储运概述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eyJfdGVtcGxhdGVEYXRhIjp7ImNvbnRlbnRUeXBlIjoiJGNhdGEwIiwibGluZUNvdW50IjoiMSIsIndvcmRDb3VudCI6IjcifSwidGFnIjoibm9FZGl0In0=</bd:templateData>
          </p:ext>
        </p:extLst>
      </p:sp>
      <p:sp>
        <p:nvSpPr>
          <p:cNvPr id="800056" name="AutoShape 8"/>
          <p:cNvSpPr/>
          <p:nvPr/>
        </p:nvSpPr>
        <p:spPr>
          <a:xfrm rot="16200000">
            <a:off x="6818523" y="1878178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57" name="AutoShape 9"/>
          <p:cNvSpPr/>
          <p:nvPr/>
        </p:nvSpPr>
        <p:spPr>
          <a:xfrm rot="5400000">
            <a:off x="8993219" y="518088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58" name="TextBox 10"/>
          <p:cNvSpPr txBox="1"/>
          <p:nvPr/>
        </p:nvSpPr>
        <p:spPr>
          <a:xfrm rot="0">
            <a:off x="6906310" y="2066884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59" name="TextBox 11"/>
          <p:cNvSpPr txBox="1"/>
          <p:nvPr/>
        </p:nvSpPr>
        <p:spPr>
          <a:xfrm rot="0">
            <a:off x="8034303" y="2066487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关键技术组成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eyJfdGVtcGxhdGVEYXRhIjp7ImNvbnRlbnRUeXBlIjoiJGNhdGExIiwibGluZUNvdW50IjoiMSIsIndvcmRDb3VudCI6IjcifSwidGFnIjoibm9FZGl0In0=</bd:templateData>
          </p:ext>
        </p:extLst>
      </p:sp>
      <p:sp>
        <p:nvSpPr>
          <p:cNvPr id="800061" name="AutoShape 12"/>
          <p:cNvSpPr/>
          <p:nvPr/>
        </p:nvSpPr>
        <p:spPr>
          <a:xfrm rot="16200000">
            <a:off x="6818523" y="2726337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62" name="AutoShape 13"/>
          <p:cNvSpPr/>
          <p:nvPr/>
        </p:nvSpPr>
        <p:spPr>
          <a:xfrm rot="5400000">
            <a:off x="8993219" y="1366247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63" name="TextBox 14"/>
          <p:cNvSpPr txBox="1"/>
          <p:nvPr/>
        </p:nvSpPr>
        <p:spPr>
          <a:xfrm rot="0">
            <a:off x="6906310" y="2915043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64" name="TextBox 15"/>
          <p:cNvSpPr txBox="1"/>
          <p:nvPr/>
        </p:nvSpPr>
        <p:spPr>
          <a:xfrm rot="0">
            <a:off x="8034303" y="2914646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系统架构设计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eyJfdGVtcGxhdGVEYXRhIjp7ImNvbnRlbnRUeXBlIjoiJGNhdGEyIiwibGluZUNvdW50IjoiMSIsIndvcmRDb3VudCI6IjcifSwidGFnIjoibm9FZGl0In0=</bd:templateData>
          </p:ext>
        </p:extLst>
      </p:sp>
      <p:sp>
        <p:nvSpPr>
          <p:cNvPr id="800066" name="AutoShape 16"/>
          <p:cNvSpPr/>
          <p:nvPr/>
        </p:nvSpPr>
        <p:spPr>
          <a:xfrm rot="16200000">
            <a:off x="6818523" y="3574501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67" name="AutoShape 17"/>
          <p:cNvSpPr/>
          <p:nvPr/>
        </p:nvSpPr>
        <p:spPr>
          <a:xfrm rot="5400000">
            <a:off x="8993219" y="2214411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68" name="TextBox 18"/>
          <p:cNvSpPr txBox="1"/>
          <p:nvPr/>
        </p:nvSpPr>
        <p:spPr>
          <a:xfrm rot="0">
            <a:off x="6906310" y="3763207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69" name="TextBox 19"/>
          <p:cNvSpPr txBox="1"/>
          <p:nvPr/>
        </p:nvSpPr>
        <p:spPr>
          <a:xfrm rot="0">
            <a:off x="8034303" y="3762810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典型解决方案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eyJfdGVtcGxhdGVEYXRhIjp7ImNvbnRlbnRUeXBlIjoiJGNhdGEzIiwibGluZUNvdW50IjoiMSIsIndvcmRDb3VudCI6IjcifSwidGFnIjoibm9FZGl0In0=</bd:templateData>
          </p:ext>
        </p:extLst>
      </p:sp>
      <p:sp>
        <p:nvSpPr>
          <p:cNvPr id="800071" name="AutoShape 20"/>
          <p:cNvSpPr/>
          <p:nvPr/>
        </p:nvSpPr>
        <p:spPr>
          <a:xfrm rot="16200000">
            <a:off x="6818523" y="4414225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72" name="AutoShape 21"/>
          <p:cNvSpPr/>
          <p:nvPr/>
        </p:nvSpPr>
        <p:spPr>
          <a:xfrm rot="5400000">
            <a:off x="8993219" y="3054135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73" name="TextBox 22"/>
          <p:cNvSpPr txBox="1"/>
          <p:nvPr/>
        </p:nvSpPr>
        <p:spPr>
          <a:xfrm rot="0">
            <a:off x="6906310" y="4602931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74" name="TextBox 23"/>
          <p:cNvSpPr txBox="1"/>
          <p:nvPr/>
        </p:nvSpPr>
        <p:spPr>
          <a:xfrm rot="0">
            <a:off x="8034303" y="4602534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实施效益分析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eyJfdGVtcGxhdGVEYXRhIjp7ImNvbnRlbnRUeXBlIjoiJGNhdGE0IiwibGluZUNvdW50IjoiMSIsIndvcmRDb3VudCI6IjcifSwidGFnIjoibm9FZGl0In0=</bd:templateData>
          </p:ext>
        </p:extLst>
      </p:sp>
      <p:sp>
        <p:nvSpPr>
          <p:cNvPr id="800076" name="AutoShape 24"/>
          <p:cNvSpPr/>
          <p:nvPr/>
        </p:nvSpPr>
        <p:spPr>
          <a:xfrm rot="16200000">
            <a:off x="6818523" y="5262389"/>
            <a:ext cx="767473" cy="814605"/>
          </a:xfrm>
          <a:prstGeom prst="rect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eyJfdGVtcGxhdGVEYXRhIjp7ImxpbmVDb3VudCI6IjUiLCJ3b3JkQ291bnQiOiI0In0sInRhZyI6Im5vRWRpdCJ9</bd:templateData>
          </p:ext>
        </p:extLst>
      </p:sp>
      <p:sp>
        <p:nvSpPr>
          <p:cNvPr id="800077" name="AutoShape 25"/>
          <p:cNvSpPr/>
          <p:nvPr/>
        </p:nvSpPr>
        <p:spPr>
          <a:xfrm rot="5400000">
            <a:off x="8993219" y="3902299"/>
            <a:ext cx="767475" cy="3534791"/>
          </a:xfrm>
          <a:prstGeom prst="rect">
            <a:avLst/>
          </a:prstGeom>
          <a:solidFill>
            <a:schemeClr val="lt1">
              <a:alpha val="100000"/>
            </a:schemeClr>
          </a:solidFill>
          <a:ln w="12700">
            <a:solidFill>
              <a:srgbClr val="E7F2FF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eyJfdGVtcGxhdGVEYXRhIjp7ImxpbmVDb3VudCI6IjI0Iiwid29yZENvdW50IjoiNCJ9LCJ0YWciOiJub0VkaXQifQ==</bd:templateData>
          </p:ext>
        </p:extLst>
      </p:sp>
      <p:sp>
        <p:nvSpPr>
          <p:cNvPr id="800078" name="TextBox 26"/>
          <p:cNvSpPr txBox="1"/>
          <p:nvPr/>
        </p:nvSpPr>
        <p:spPr>
          <a:xfrm rot="0">
            <a:off x="6906310" y="5451095"/>
            <a:ext cx="668655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06.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800079" name="TextBox 27"/>
          <p:cNvSpPr txBox="1"/>
          <p:nvPr/>
        </p:nvSpPr>
        <p:spPr>
          <a:xfrm rot="0">
            <a:off x="8034303" y="5450698"/>
            <a:ext cx="2849880" cy="4914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行业应用案例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eyJfdGVtcGxhdGVEYXRhIjp7ImNvbnRlbnRUeXBlIjoiJGNhdGE1IiwibGluZUNvdW50IjoiMSIsIndvcmRDb3VudCI6IjcifSwidGFnIjoibm9FZGl0In0=</bd:templateData>
          </p:ext>
        </p:extLst>
      </p:sp>
      <p:sp>
        <p:nvSpPr>
          <p:cNvPr id="800103" name="Freeform 28"/>
          <p:cNvSpPr/>
          <p:nvPr/>
        </p:nvSpPr>
        <p:spPr>
          <a:xfrm rot="0">
            <a:off x="-2" y="0"/>
            <a:ext cx="4777848" cy="6858000"/>
          </a:xfrm>
          <a:custGeom>
            <a:avLst/>
            <a:gdLst/>
            <a:ahLst/>
            <a:cxnLst/>
            <a:rect b="b" l="l" r="r" t="t"/>
            <a:pathLst>
              <a:path h="6858000" w="4777848">
                <a:moveTo>
                  <a:pt x="0" y="0"/>
                </a:moveTo>
                <a:lnTo>
                  <a:pt x="4261911" y="0"/>
                </a:lnTo>
                <a:lnTo>
                  <a:pt x="4261911" y="738632"/>
                </a:lnTo>
                <a:lnTo>
                  <a:pt x="4777848" y="738632"/>
                </a:lnTo>
                <a:lnTo>
                  <a:pt x="4261911" y="1254569"/>
                </a:lnTo>
                <a:lnTo>
                  <a:pt x="4261911" y="6858000"/>
                </a:lnTo>
                <a:lnTo>
                  <a:pt x="0" y="6858000"/>
                </a:lnTo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eyJfdGVtcGxhdGVEYXRhIjp7ImxpbmVDb3VudCI6IjQ3Iiwid29yZENvdW50IjoiMzkifSwidGFnIjoibm9FZGl0In0=</bd:templateData>
          </p:ext>
        </p:extLst>
      </p:sp>
      <p:sp>
        <p:nvSpPr>
          <p:cNvPr id="800104" name="TextBox 29"/>
          <p:cNvSpPr txBox="1"/>
          <p:nvPr/>
        </p:nvSpPr>
        <p:spPr>
          <a:xfrm rot="5400000">
            <a:off x="-1421307" y="3519465"/>
            <a:ext cx="4781821" cy="120586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rgbClr val="FFFFFF">
                    <a:alpha val="5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CONTENTS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eyJfdGVtcGxhdGVEYXRhIjp7ImxpbmVDb3VudCI6IjEiLCJ3b3JkQ291bnQiOiI0In0sInRhZyI6Im5vRWRpdCJ9</bd:templateData>
          </p:ext>
        </p:extLst>
      </p:sp>
      <p:sp>
        <p:nvSpPr>
          <p:cNvPr id="800105" name="TextBox 30"/>
          <p:cNvSpPr txBox="1"/>
          <p:nvPr/>
        </p:nvSpPr>
        <p:spPr>
          <a:xfrm rot="0">
            <a:off x="532083" y="586229"/>
            <a:ext cx="2534163" cy="1107996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grpSp>
        <p:nvGrpSpPr>
          <p:cNvPr id="800106" name="Group 31"/>
          <p:cNvGrpSpPr/>
          <p:nvPr/>
        </p:nvGrpSpPr>
        <p:grpSpPr>
          <a:xfrm rot="0">
            <a:off x="2527268" y="743712"/>
            <a:ext cx="1094708" cy="729520"/>
            <a:chOff x="2527268" y="743712"/>
            <a:chExt cx="1094708" cy="729520"/>
          </a:xfrm>
          <a:solidFill>
            <a:schemeClr val="lt1">
              <a:alpha val="20000"/>
            </a:schemeClr>
          </a:solidFill>
        </p:grpSpPr>
        <p:sp>
          <p:nvSpPr>
            <p:cNvPr id="800107" name="AutoShape 32"/>
            <p:cNvSpPr/>
            <p:nvPr/>
          </p:nvSpPr>
          <p:spPr>
            <a:xfrm rot="0">
              <a:off x="2530983" y="743712"/>
              <a:ext cx="1090898" cy="377666"/>
            </a:xfrm>
            <a:prstGeom prst="rect">
              <a:avLst/>
            </a:prstGeom>
            <a:grpFill/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800108" name="AutoShape 33"/>
            <p:cNvSpPr/>
            <p:nvPr/>
          </p:nvSpPr>
          <p:spPr>
            <a:xfrm rot="0">
              <a:off x="2527268" y="1149096"/>
              <a:ext cx="1094708" cy="133064"/>
            </a:xfrm>
            <a:prstGeom prst="rect">
              <a:avLst/>
            </a:prstGeom>
            <a:grpFill/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800109" name="AutoShape 34"/>
            <p:cNvSpPr/>
            <p:nvPr/>
          </p:nvSpPr>
          <p:spPr>
            <a:xfrm rot="0">
              <a:off x="2527268" y="1309878"/>
              <a:ext cx="1094708" cy="67818"/>
            </a:xfrm>
            <a:prstGeom prst="rect">
              <a:avLst/>
            </a:prstGeom>
            <a:grpFill/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800110" name="AutoShape 35"/>
            <p:cNvSpPr/>
            <p:nvPr/>
          </p:nvSpPr>
          <p:spPr>
            <a:xfrm rot="0">
              <a:off x="2527268" y="1405414"/>
              <a:ext cx="1094708" cy="67818"/>
            </a:xfrm>
            <a:prstGeom prst="rect">
              <a:avLst/>
            </a:prstGeom>
            <a:grpFill/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grpSp>
        <p:nvGrpSpPr>
          <p:cNvPr id="800118" name="Group 36"/>
          <p:cNvGrpSpPr/>
          <p:nvPr/>
        </p:nvGrpSpPr>
        <p:grpSpPr>
          <a:xfrm rot="0">
            <a:off x="10220516" y="661130"/>
            <a:ext cx="1126045" cy="300895"/>
            <a:chOff x="10220516" y="661130"/>
            <a:chExt cx="1126045" cy="300895"/>
          </a:xfrm>
          <a:solidFill>
            <a:schemeClr val="dk1">
              <a:alpha val="100000"/>
            </a:schemeClr>
          </a:solidFill>
        </p:grpSpPr>
        <p:sp>
          <p:nvSpPr>
            <p:cNvPr id="800119" name="Freeform 37"/>
            <p:cNvSpPr/>
            <p:nvPr/>
          </p:nvSpPr>
          <p:spPr>
            <a:xfrm rot="5400000">
              <a:off x="10220516" y="661130"/>
              <a:ext cx="301085" cy="300895"/>
            </a:xfrm>
            <a:custGeom>
              <a:avLst/>
              <a:gdLst/>
              <a:ahLst/>
              <a:cxnLst/>
              <a:rect b="b" l="l" r="r" t="t"/>
              <a:pathLst>
                <a:path h="1399630" w="1400608">
                  <a:moveTo>
                    <a:pt x="0" y="707783"/>
                  </a:moveTo>
                  <a:lnTo>
                    <a:pt x="0" y="700604"/>
                  </a:lnTo>
                  <a:lnTo>
                    <a:pt x="3608" y="700604"/>
                  </a:lnTo>
                  <a:lnTo>
                    <a:pt x="74379" y="697031"/>
                  </a:lnTo>
                  <a:cubicBezTo>
                    <a:pt x="423464" y="661579"/>
                    <a:pt x="695875" y="366766"/>
                    <a:pt x="695875" y="8327"/>
                  </a:cubicBezTo>
                  <a:lnTo>
                    <a:pt x="695455" y="0"/>
                  </a:lnTo>
                  <a:lnTo>
                    <a:pt x="700004" y="0"/>
                  </a:lnTo>
                  <a:lnTo>
                    <a:pt x="702634" y="0"/>
                  </a:lnTo>
                  <a:lnTo>
                    <a:pt x="702634" y="52086"/>
                  </a:lnTo>
                  <a:lnTo>
                    <a:pt x="703578" y="70771"/>
                  </a:lnTo>
                  <a:cubicBezTo>
                    <a:pt x="739029" y="419856"/>
                    <a:pt x="1033842" y="692267"/>
                    <a:pt x="1392281" y="692267"/>
                  </a:cubicBezTo>
                  <a:lnTo>
                    <a:pt x="1400608" y="691847"/>
                  </a:lnTo>
                  <a:lnTo>
                    <a:pt x="1400608" y="699026"/>
                  </a:lnTo>
                  <a:lnTo>
                    <a:pt x="1397000" y="699026"/>
                  </a:lnTo>
                  <a:lnTo>
                    <a:pt x="1326229" y="702599"/>
                  </a:lnTo>
                  <a:cubicBezTo>
                    <a:pt x="977144" y="738051"/>
                    <a:pt x="704733" y="1032864"/>
                    <a:pt x="704733" y="1391303"/>
                  </a:cubicBezTo>
                  <a:lnTo>
                    <a:pt x="705153" y="1399630"/>
                  </a:lnTo>
                  <a:lnTo>
                    <a:pt x="700604" y="1399630"/>
                  </a:lnTo>
                  <a:lnTo>
                    <a:pt x="697974" y="1399630"/>
                  </a:lnTo>
                  <a:lnTo>
                    <a:pt x="697974" y="1347544"/>
                  </a:lnTo>
                  <a:lnTo>
                    <a:pt x="697030" y="1328859"/>
                  </a:lnTo>
                  <a:cubicBezTo>
                    <a:pt x="661579" y="979774"/>
                    <a:pt x="366766" y="707363"/>
                    <a:pt x="8327" y="707363"/>
                  </a:cubicBezTo>
                </a:path>
              </a:pathLst>
            </a:custGeom>
            <a:grpFill/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800120" name="Freeform 38"/>
            <p:cNvSpPr/>
            <p:nvPr/>
          </p:nvSpPr>
          <p:spPr>
            <a:xfrm rot="5400000">
              <a:off x="10632947" y="661130"/>
              <a:ext cx="301085" cy="300895"/>
            </a:xfrm>
            <a:custGeom>
              <a:avLst/>
              <a:gdLst/>
              <a:ahLst/>
              <a:cxnLst/>
              <a:rect b="b" l="l" r="r" t="t"/>
              <a:pathLst>
                <a:path h="1399630" w="1400608">
                  <a:moveTo>
                    <a:pt x="0" y="707783"/>
                  </a:moveTo>
                  <a:lnTo>
                    <a:pt x="0" y="700604"/>
                  </a:lnTo>
                  <a:lnTo>
                    <a:pt x="3608" y="700604"/>
                  </a:lnTo>
                  <a:lnTo>
                    <a:pt x="74379" y="697031"/>
                  </a:lnTo>
                  <a:cubicBezTo>
                    <a:pt x="423464" y="661579"/>
                    <a:pt x="695875" y="366766"/>
                    <a:pt x="695875" y="8327"/>
                  </a:cubicBezTo>
                  <a:lnTo>
                    <a:pt x="695455" y="0"/>
                  </a:lnTo>
                  <a:lnTo>
                    <a:pt x="700004" y="0"/>
                  </a:lnTo>
                  <a:lnTo>
                    <a:pt x="702634" y="0"/>
                  </a:lnTo>
                  <a:lnTo>
                    <a:pt x="702634" y="52086"/>
                  </a:lnTo>
                  <a:lnTo>
                    <a:pt x="703578" y="70771"/>
                  </a:lnTo>
                  <a:cubicBezTo>
                    <a:pt x="739029" y="419856"/>
                    <a:pt x="1033842" y="692267"/>
                    <a:pt x="1392281" y="692267"/>
                  </a:cubicBezTo>
                  <a:lnTo>
                    <a:pt x="1400608" y="691847"/>
                  </a:lnTo>
                  <a:lnTo>
                    <a:pt x="1400608" y="699026"/>
                  </a:lnTo>
                  <a:lnTo>
                    <a:pt x="1397000" y="699026"/>
                  </a:lnTo>
                  <a:lnTo>
                    <a:pt x="1326229" y="702599"/>
                  </a:lnTo>
                  <a:cubicBezTo>
                    <a:pt x="977144" y="738051"/>
                    <a:pt x="704733" y="1032864"/>
                    <a:pt x="704733" y="1391303"/>
                  </a:cubicBezTo>
                  <a:lnTo>
                    <a:pt x="705153" y="1399630"/>
                  </a:lnTo>
                  <a:lnTo>
                    <a:pt x="700604" y="1399630"/>
                  </a:lnTo>
                  <a:lnTo>
                    <a:pt x="697974" y="1399630"/>
                  </a:lnTo>
                  <a:lnTo>
                    <a:pt x="697974" y="1347544"/>
                  </a:lnTo>
                  <a:lnTo>
                    <a:pt x="697030" y="1328859"/>
                  </a:lnTo>
                  <a:cubicBezTo>
                    <a:pt x="661579" y="979774"/>
                    <a:pt x="366766" y="707363"/>
                    <a:pt x="8327" y="707363"/>
                  </a:cubicBezTo>
                </a:path>
              </a:pathLst>
            </a:custGeom>
            <a:solidFill>
              <a:srgbClr val="FEB83A">
                <a:alpha val="100000"/>
              </a:srgb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800121" name="Freeform 39"/>
            <p:cNvSpPr/>
            <p:nvPr/>
          </p:nvSpPr>
          <p:spPr>
            <a:xfrm rot="5400000">
              <a:off x="11045476" y="661130"/>
              <a:ext cx="301085" cy="300895"/>
            </a:xfrm>
            <a:custGeom>
              <a:avLst/>
              <a:gdLst/>
              <a:ahLst/>
              <a:cxnLst/>
              <a:rect b="b" l="l" r="r" t="t"/>
              <a:pathLst>
                <a:path h="1399630" w="1400608">
                  <a:moveTo>
                    <a:pt x="0" y="707783"/>
                  </a:moveTo>
                  <a:lnTo>
                    <a:pt x="0" y="700604"/>
                  </a:lnTo>
                  <a:lnTo>
                    <a:pt x="3608" y="700604"/>
                  </a:lnTo>
                  <a:lnTo>
                    <a:pt x="74379" y="697031"/>
                  </a:lnTo>
                  <a:cubicBezTo>
                    <a:pt x="423464" y="661579"/>
                    <a:pt x="695875" y="366766"/>
                    <a:pt x="695875" y="8327"/>
                  </a:cubicBezTo>
                  <a:lnTo>
                    <a:pt x="695455" y="0"/>
                  </a:lnTo>
                  <a:lnTo>
                    <a:pt x="700004" y="0"/>
                  </a:lnTo>
                  <a:lnTo>
                    <a:pt x="702634" y="0"/>
                  </a:lnTo>
                  <a:lnTo>
                    <a:pt x="702634" y="52086"/>
                  </a:lnTo>
                  <a:lnTo>
                    <a:pt x="703578" y="70771"/>
                  </a:lnTo>
                  <a:cubicBezTo>
                    <a:pt x="739029" y="419856"/>
                    <a:pt x="1033842" y="692267"/>
                    <a:pt x="1392281" y="692267"/>
                  </a:cubicBezTo>
                  <a:lnTo>
                    <a:pt x="1400608" y="691847"/>
                  </a:lnTo>
                  <a:lnTo>
                    <a:pt x="1400608" y="699026"/>
                  </a:lnTo>
                  <a:lnTo>
                    <a:pt x="1397000" y="699026"/>
                  </a:lnTo>
                  <a:lnTo>
                    <a:pt x="1326229" y="702599"/>
                  </a:lnTo>
                  <a:cubicBezTo>
                    <a:pt x="977144" y="738051"/>
                    <a:pt x="704733" y="1032864"/>
                    <a:pt x="704733" y="1391303"/>
                  </a:cubicBezTo>
                  <a:lnTo>
                    <a:pt x="705153" y="1399630"/>
                  </a:lnTo>
                  <a:lnTo>
                    <a:pt x="700604" y="1399630"/>
                  </a:lnTo>
                  <a:lnTo>
                    <a:pt x="697974" y="1399630"/>
                  </a:lnTo>
                  <a:lnTo>
                    <a:pt x="697974" y="1347544"/>
                  </a:lnTo>
                  <a:lnTo>
                    <a:pt x="697030" y="1328859"/>
                  </a:lnTo>
                  <a:cubicBezTo>
                    <a:pt x="661579" y="979774"/>
                    <a:pt x="366766" y="707363"/>
                    <a:pt x="8327" y="707363"/>
                  </a:cubicBezTo>
                </a:path>
              </a:pathLst>
            </a:custGeom>
            <a:solidFill>
              <a:srgbClr val="4588DA">
                <a:alpha val="100000"/>
              </a:srgb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pic>
        <p:nvPicPr>
          <p:cNvPr id="800047" name="Picture 40"/>
          <p:cNvPicPr>
            <a:picLocks noChangeAspect="1"/>
          </p:cNvPicPr>
          <p:nvPr/>
        </p:nvPicPr>
        <p:blipFill>
          <a:blip r:embed="rId4g6y5p"/>
          <a:srcRect/>
          <a:stretch>
            <a:fillRect/>
          </a:stretch>
        </p:blipFill>
        <p:spPr>
          <a:xfrm flipH="1" rot="0">
            <a:off x="1414714" y="3591911"/>
            <a:ext cx="4134454" cy="326608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eyJtZCI6IuebruW9lVxu5pm65oWn5YKo6L+Q5qaC6L+wXG7lhbPplK7mioDmnK/nu4TmiJBcbuezu+e7n+aetuaehOiuvuiuoVxu5YW45Z6L6Kej5Yaz5pa55qGIXG7lrp7mlr3mlYjnm4rliIbmnpBcbuihjOS4muW6lOeUqOahiOS+iyIsInRwbGlkIjoiMTAyNDg1IiwidHBsTmFtZSI6ImNhdGFMaXN0X2NodWFuZ2tldGllMDAyYzYiLCJlZGl0ZWQiOiJmYWxzZSJ9</bd:templateData>
    </p:ext>
  </p:extLst>
</p:sld>
</file>

<file path=ppt/slides/slide_36cac0f4-cdaa-4328-9bb8-d16f41269bfb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037qcI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2312276"/>
            <a:ext cx="6862887" cy="3143250"/>
            <a:chOff x="0" y="2312276"/>
            <a:chExt cx="6862887" cy="3143250"/>
          </a:xfrm>
        </p:grpSpPr>
        <p:sp>
          <p:nvSpPr>
            <p:cNvPr id="3" name="AutoShape 3"/>
            <p:cNvSpPr/>
            <p:nvPr/>
          </p:nvSpPr>
          <p:spPr>
            <a:xfrm rot="0">
              <a:off x="0" y="2312276"/>
              <a:ext cx="5391969" cy="3143250"/>
            </a:xfrm>
            <a:prstGeom prst="roundRect">
              <a:avLst>
                <a:gd fmla="val 0" name="adj"/>
              </a:avLst>
            </a:prstGeom>
            <a:solidFill>
              <a:schemeClr val="accent2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 rot="0">
              <a:off x="3719637" y="2312276"/>
              <a:ext cx="3143250" cy="3143250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  <a:ln/>
          </p:spPr>
        </p:sp>
      </p:grpSp>
      <p:sp>
        <p:nvSpPr>
          <p:cNvPr id="5" name="TextBox 5"/>
          <p:cNvSpPr txBox="1"/>
          <p:nvPr/>
        </p:nvSpPr>
        <p:spPr>
          <a:xfrm rot="0">
            <a:off x="7530691" y="1447065"/>
            <a:ext cx="3690456" cy="141146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采用自动化立体仓库（AS/RS）和穿梭车系统，将传统平库的存储高度从3米提升至10米以上，单位面积存储量增加3倍。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eyJfdGVtcGxhdGVEYXRhIjp7ImNvbnRlbnRUeXBlIjoiJGl0ZW0xX2MiLCJsaW5lQ291bnQiOiI0Iiwid29yZENvdW50IjoiMTcifSwidGFnIjoiJGl0ZW0xX2MifQ==</bd:templateData>
          </p:ext>
        </p:extLst>
      </p:sp>
      <p:sp>
        <p:nvSpPr>
          <p:cNvPr id="6" name="AutoShape 6"/>
          <p:cNvSpPr/>
          <p:nvPr/>
        </p:nvSpPr>
        <p:spPr>
          <a:xfrm rot="10800000">
            <a:off x="7058808" y="3724782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9103272">
            <a:off x="6575971" y="2126142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flipV="1" rot="-8905300">
            <a:off x="6576947" y="5374256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7452351" y="5297792"/>
            <a:ext cx="3690456" cy="141146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模块化设计支持货架灵活调整，适应季节性库存波动，避免空间闲置或不足的问题。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eyJfdGVtcGxhdGVEYXRhIjp7ImNvbnRlbnRUeXBlIjoiJGl0ZW0zX2MiLCJsaW5lQ291bnQiOiI0Iiwid29yZENvdW50IjoiMTcifSwidGFnIjoiJGl0ZW0zX2MifQ==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7911312" y="3381201"/>
            <a:ext cx="3690456" cy="1411461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AI算法根据货物出入库频率自动调整存储位置，高频货物就近存放，减少通道占用，空间利用率提升20%以上。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eyJfdGVtcGxhdGVEYXRhIjp7ImNvbnRlbnRUeXBlIjoiJGl0ZW0yX2MiLCJsaW5lQ291bnQiOiI0Iiwid29yZENvdW50IjoiMTcifSwidGFnIjoiJGl0ZW0yX2MifQ==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7530691" y="1143824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立体货架与密集存储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7911312" y="3119263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动态库位分配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7452351" y="5007126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柔性化布局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353535" y="2528436"/>
            <a:ext cx="5742466" cy="2710929"/>
          </a:xfrm>
          <a:prstGeom prst="rect">
            <a:avLst/>
          </a:prstGeom>
          <a:ln/>
        </p:spPr>
        <p:txBody>
          <a:bodyPr anchor="ctr" anchorCtr="1" bIns="57150" lIns="114300" rIns="114300" rtlCol="0" tIns="57150" vert="horz" wrap="square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智慧储运系统通过立体化存储和动态路径规划，最大化利用仓库垂直空间与平面布局，实现仓储密度提升30%-50%，尤其适合土地资源紧张的一线城市。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eyJfdGVtcGxhdGVEYXRhIjp7ImNvbnRlbnRUeXBlIjoiJHN1bSIsImxpbmVDb3VudCI6IjYiLCJ3b3JkQ291bnQiOiIyMiJ9LCJ0YWciOiIkc3VtIn0=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空间利用率提升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puumXtOWIqeeUqOeOh+aPkOWNh1xuIyMjIOeri+S9k+i0p+aetuS4juWvhumbhuWtmOWCqFxu6YeH55So6Ieq5Yqo5YyW56uL5L2T5LuT5bqT77yIQVMvUlPvvInlkoznqb/moq3ovabns7vnu5/vvIzlsIbkvKDnu5/lubPlupPnmoTlrZjlgqjpq5jluqbku44z57Gz5o+Q5Y2H6IezMTDnsbPku6XkuIrvvIzljZXkvY3pnaLnp6/lrZjlgqjph4/lop7liqAz5YCN44CCXG4jIyMg5Yqo5oCB5bqT5L2N5YiG6YWNXG5BSeeul+azleagueaNrui0p+eJqeWHuuWFpeW6k+mikeeOh+iHquWKqOiwg+aVtOWtmOWCqOS9jee9ru+8jOmrmOmikei0p+eJqeWwsei/keWtmOaUvu+8jOWHj+WwkemAmumBk+WNoOeUqO+8jOepuumXtOWIqeeUqOeOh+aPkOWNhzIwJeS7peS4iuOAglxuIyMjIOaflOaAp+WMluW4g+WxgFxu5qih5Z2X5YyW6K6+6K6h5pSv5oyB6LSn5p6254G15rS76LCD5pW077yM6YCC5bqU5a2j6IqC5oCn5bqT5a2Y5rOi5Yqo77yM6YG/5YWN56m66Ze06Zey572u5oiW5LiN6Laz55qE6Zeu6aKY44CCIiwidHBsaWQiOiIxMDI0ODUiLCJ0cGxOYW1lIjoibGlzdFN1bTNfMjMxMTMwMyIsImVkaXRlZCI6ImZhbHNlIn0=</bd:templateData>
    </p:ext>
  </p:extLst>
</p:sld>
</file>

<file path=ppt/slides/slide_041d561a-dca4-40ac-8b34-402234ff4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O080p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5G+北斗高精度定位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x78feb">
            <a:alphaModFix amt="100000"/>
          </a:blip>
          <a:srcRect l="5591" r="5591"/>
          <a:stretch>
            <a:fillRect/>
          </a:stretch>
        </p:blipFill>
        <p:spPr>
          <a:xfrm rot="0">
            <a:off x="628688" y="1404052"/>
            <a:ext cx="2537970" cy="1607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NKODot">
            <a:alphaModFix amt="100000"/>
          </a:blip>
          <a:srcRect b="2489" t="2489"/>
          <a:stretch>
            <a:fillRect/>
          </a:stretch>
        </p:blipFill>
        <p:spPr>
          <a:xfrm rot="0">
            <a:off x="3358752" y="1404052"/>
            <a:ext cx="2537970" cy="1607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l9UqMZ">
            <a:alphaModFix amt="100000"/>
          </a:blip>
          <a:srcRect l="5591" r="5591"/>
          <a:stretch>
            <a:fillRect/>
          </a:stretch>
        </p:blipFill>
        <p:spPr>
          <a:xfrm rot="0">
            <a:off x="6085691" y="1390066"/>
            <a:ext cx="2537970" cy="1607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R4iFE">
            <a:alphaModFix amt="100000"/>
          </a:blip>
          <a:srcRect b="2559" t="2559"/>
          <a:stretch>
            <a:fillRect/>
          </a:stretch>
        </p:blipFill>
        <p:spPr>
          <a:xfrm rot="0">
            <a:off x="8815755" y="1390066"/>
            <a:ext cx="2537970" cy="1607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eyJfdGVtcGxhdGVEYXRhIjp7ImNvbnRlbnRUeXBlIjoiJGltZzMifSwidGFnIjoiJGltZzMifQ==</bd:templateData>
          </p:ext>
        </p:extLst>
      </p:pic>
      <p:sp>
        <p:nvSpPr>
          <p:cNvPr id="7" name="AutoShape 7"/>
          <p:cNvSpPr/>
          <p:nvPr/>
        </p:nvSpPr>
        <p:spPr>
          <a:xfrm rot="0">
            <a:off x="695363" y="5019688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6255856" y="349497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6255856" y="502178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1530231" y="3789727"/>
            <a:ext cx="4238625" cy="1201387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利用5G uRLLC低时延特性（端到端&lt;10ms），确保跨区域AGV控制指令实时传输，解决WiFi跨区切换丢包问题。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eyJfdGVtcGxhdGVEYXRhIjp7ImNvbnRlbnRUeXBlIjoiJGl0ZW0xX2MiLCJsaW5lQ291bnQiOiIzIiwid29yZENvdW50IjoiMTgifSwidGFnIjoiJGl0ZW0xX2MifQ==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1530231" y="3241079"/>
            <a:ext cx="4219575" cy="738707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广域无缝覆盖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eyJfdGVtcGxhdGVEYXRhIjp7ImNvbnRlbnRUeXBlIjoiJGl0ZW0xX3RpdGxlIiwibGluZUNvdW50IjoiMSIsIndvcmRDb3VudCI6IjE0In0sInRhZyI6IiRpdGVtMV90aXRsZSJ9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1530231" y="5344377"/>
            <a:ext cx="4238625" cy="1272134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通过5G大带宽回传设备运行数据，在云端构建实时更新的仓储数字孪生体，支持远程可视化监控与仿真优化。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eyJfdGVtcGxhdGVEYXRhIjp7ImNvbnRlbnRUeXBlIjoiJGl0ZW0zX2MiLCJsaW5lQ291bnQiOiIzIiwid29yZENvdW50IjoiMTgifSwidGFnIjoiJGl0ZW0zX2MifQ==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1530231" y="4786080"/>
            <a:ext cx="4219575" cy="736876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数字孪生同步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eyJfdGVtcGxhdGVEYXRhIjp7ImNvbnRlbnRUeXBlIjoiJGl0ZW0zX3RpdGxlIiwibGluZUNvdW50IjoiMSIsIndvcmRDb3VudCI6IjE0In0sInRhZyI6IiRpdGVtM190aXRsZSJ9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7107882" y="3785711"/>
            <a:ext cx="4238625" cy="1205403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北斗三号差分定位结合室内UWB基站，实现室内外全场景&lt;3cm定位精度，满足精密电子元件仓储的库位管理需求。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eyJfdGVtcGxhdGVEYXRhIjp7ImNvbnRlbnRUeXBlIjoiJGl0ZW0yX2MiLCJsaW5lQ291bnQiOiIzIiwid29yZENvdW50IjoiMjAifSwidGFnIjoiJGl0ZW0yX2MifQ==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7107882" y="3237063"/>
            <a:ext cx="4219575" cy="749453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厘米级定位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eyJfdGVtcGxhdGVEYXRhIjp7ImNvbnRlbnRUeXBlIjoiJGl0ZW0yX3RpdGxlIiwibGluZUNvdW50IjoiMSIsIndvcmRDb3VudCI6IjE0In0sInRhZyI6IiRpdGVtMl90aXRsZSJ9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589863" y="3546688"/>
            <a:ext cx="849630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589863" y="5087619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6150355" y="3554253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695363" y="346835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7107882" y="5350628"/>
            <a:ext cx="4238625" cy="1265882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99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双模5G+北斗短报文通信，在极端天气或网络故障时仍可维持关键设备的基础通信能力。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eyJfdGVtcGxhdGVEYXRhIjp7ImNvbnRlbnRUeXBlIjoiJGl0ZW00X2MiLCJsaW5lQ291bnQiOiIzIiwid29yZENvdW50IjoiMTgifSwidGFnIjoiJGl0ZW00X2MifQ==</bd:templateData>
          </p:ext>
        </p:extLst>
      </p:sp>
      <p:sp>
        <p:nvSpPr>
          <p:cNvPr id="21" name="TextBox 21"/>
          <p:cNvSpPr txBox="1"/>
          <p:nvPr/>
        </p:nvSpPr>
        <p:spPr>
          <a:xfrm rot="0">
            <a:off x="7107882" y="4779791"/>
            <a:ext cx="4219575" cy="749453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5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应急通信保障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eyJfdGVtcGxhdGVEYXRhIjp7ImNvbnRlbnRUeXBlIjoiJGl0ZW00X3RpdGxlIiwibGluZUNvdW50IjoiMSIsIndvcmRDb3VudCI6IjE0In0sInRhZyI6IiRpdGVtNF90aXRsZSJ9</bd:templateData>
          </p:ext>
        </p:extLst>
      </p:sp>
      <p:sp>
        <p:nvSpPr>
          <p:cNvPr id="22" name="TextBox 22"/>
          <p:cNvSpPr txBox="1"/>
          <p:nvPr/>
        </p:nvSpPr>
        <p:spPr>
          <a:xfrm rot="0">
            <a:off x="6150355" y="5081071"/>
            <a:ext cx="849630" cy="5200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DVHK+WMl+aWl+mrmOeyvuW6puWumuS9jVxuIyMjIOW5v+Wfn+aXoOe8neimhuebllxu5Yip55SoNUcgdVJMTEPkvY7ml7blu7bnibnmgKfvvIjnq6/liLDnq688MTBtc++8ie+8jOehruS/nei3qOWMuuWfn0FHVuaOp+WItuaMh+S7pOWunuaXtuS8oOi+k++8jOino+WGs1dpRmnot6jljLrliIfmjaLkuKLljIXpl67popjjgIJcbiMjIyDljpjnsbPnuqflrprkvY1cbuWMl+aWl+S4ieWPt+W3ruWIhuWumuS9jee7k+WQiOWupOWGhVVXQuWfuuerme+8jOWunueOsOWupOWGheWkluWFqOWcuuaZrzwzY23lrprkvY3nsr7luqbvvIzmu6HotrPnsr7lr4bnlLXlrZDlhYPku7bku5PlgqjnmoTlupPkvY3nrqHnkIbpnIDmsYLjgIJcbiMjIyDmlbDlrZflrarnlJ/lkIzmraVcbumAmui/hzVH5aSn5bim5a695Zue5Lyg6K6+5aSH6L+Q6KGM5pWw5o2u77yM5Zyo5LqR56uv5p6E5bu65a6e5pe25pu05paw55qE5LuT5YKo5pWw5a2X5a2q55Sf5L2T77yM5pSv5oyB6L+c56iL5Y+v6KeG5YyW55uR5o6n5LiO5Lu/55yf5LyY5YyW44CCXG4jIyMg5bqU5oCl6YCa5L+h5L+d6ZqcXG7lj4zmqKE1RyvljJfmlpfnn63miqXmlofpgJrkv6HvvIzlnKjmnoHnq6/lpKnmsJTmiJbnvZHnu5zmlYXpmpzml7bku43lj6/nu7TmjIHlhbPplK7orr7lpIfnmoTln7rnoYDpgJrkv6Hog73lipvjgIIiLCJ0cGxpZCI6IjEwMjQ4NSIsInRwbE5hbWUiOiJsaXN0NF9zYW1lU3R5bGU0cGljNiIsImVkaXRlZCI6ImZhbHNlIn0=</bd:templateData>
    </p:ext>
  </p:extLst>
</p:sld>
</file>

<file path=ppt/slides/slide_84dda5fb-8df3-4fa3-b4bd-35c5b4fb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8cSUek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典型解决方案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QK0UXe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eyJtZCI6IiMjIOWFuOWei+ino+WGs+aWueahiCIsInRwbGlkIjoiMTAyNDg1IiwidHBsTmFtZSI6ImgydGl0bGVfY2h1YW5na2V0aWUwMDIiLCJlZGl0ZWQiOiJmYWxzZSJ9</bd:templateData>
    </p:ext>
  </p:extLst>
</p:sld>
</file>

<file path=ppt/slides/slide_186fd7a3-b897-4149-89b5-78f3a9e79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leFk4A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无人化转运系统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dIkWtV">
            <a:alphaModFix amt="100000"/>
          </a:blip>
          <a:srcRect l="21083" r="21083"/>
          <a:stretch>
            <a:fillRect/>
          </a:stretch>
        </p:blipFill>
        <p:spPr>
          <a:xfrm rot="0"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4" name="Freeform 4"/>
          <p:cNvSpPr/>
          <p:nvPr/>
        </p:nvSpPr>
        <p:spPr>
          <a:xfrm rot="0">
            <a:off x="4509171" y="1790522"/>
            <a:ext cx="583851" cy="3533966"/>
          </a:xfrm>
          <a:custGeom>
            <a:avLst/>
            <a:gdLst/>
            <a:ahLst/>
            <a:cxnLst/>
            <a:rect b="b" l="l" r="r" t="t"/>
            <a:pathLst>
              <a:path h="3533966" w="583851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5347614" y="506720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订单到人系统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5452715" y="5573201"/>
            <a:ext cx="5194466" cy="964797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结合多层穿梭车和自动提升机，实现"货到人"拣选效率500行/小时，误差率低于0.01%，特别适合电商高频订单场景。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eyJfdGVtcGxhdGVEYXRhIjp7ImNvbnRlbnRUeXBlIjoiJGl0ZW0zX2MiLCJsaW5lQ291bnQiOiIzIiwid29yZENvdW50IjoiMjgifSwidGFnIjoiJGl0ZW0zX2MifQ==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5347614" y="3298365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无人叉车矩阵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5452715" y="3804364"/>
            <a:ext cx="5194466" cy="1061273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配备3D视觉识别和力控技术的无人叉车，可完成6米高位存取、9吨重载搬运，定位精度±5mm，适应室外雨雪等复杂工况。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eyJfdGVtcGxhdGVEYXRhIjp7ImNvbnRlbnRUeXBlIjoiJGl0ZW0yX2MiLCJsaW5lQ291bnQiOiI0Iiwid29yZENvdW50IjoiMjgifSwidGFnIjoiJGl0ZW0yX2MifQ==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5347614" y="1556561"/>
            <a:ext cx="5299568" cy="468573"/>
          </a:xfrm>
          <a:prstGeom prst="roundRect">
            <a:avLst>
              <a:gd fmla="val 50000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8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AMR集群调度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5452715" y="2062560"/>
            <a:ext cx="5194466" cy="1057947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部署上百台自主导航AMR，通过5G+SLAM技术实现窄通道（&lt;1.2m）托盘搬运，支持动态路径规划与避障，吞吐量提升3倍。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XoOS6uuWMlui9rOi/kOezu+e7n1xuIyMjIEFNUumbhue+pOiwg+W6plxu6YOo572y5LiK55m+5Y+w6Ieq5Li75a+86IiqQU1S77yM6YCa6L+HNUcrU0xBTeaKgOacr+WunueOsOeqhOmAmumBk++8iDwxLjJt77yJ5omY55uY5pCs6L+Q77yM5pSv5oyB5Yqo5oCB6Lev5b6E6KeE5YiS5LiO6YG/6Zqc77yM5ZCe5ZCQ6YeP5o+Q5Y2HM+WAjeOAglxuIyMjIOaXoOS6uuWPiei9puefqemYtVxu6YWN5aSHM0Top4bop4nor4bliKvlkozlipvmjqfmioDmnK/nmoTml6Dkurrlj4novabvvIzlj6/lrozmiJA257Gz6auY5L2N5a2Y5Y+W44CBOeWQqOmHjei9veaQrOi/kO+8jOWumuS9jeeyvuW6psKxNW1t77yM6YCC5bqU5a6k5aSW6Zuo6Zuq562J5aSN5p2C5bel5Ya144CCXG4jIyMg6K6i5Y2V5Yiw5Lq657O757ufXG7nu5PlkIjlpJrlsYLnqb/moq3ovablkozoh6rliqjmj5DljYfmnLrvvIzlrp7njrBcIui0p+WIsOS6ulwi5ouj6YCJ5pWI546HNTAw6KGML+Wwj+aXtu+8jOivr+W3rueOh+S9juS6jjAuMDEl77yM54m55Yir6YCC5ZCI55S15ZWG6auY6aKR6K6i5Y2V5Zy65pmv44CCIiwidHBsaWQiOiIxMDI0ODUiLCJ0cGxOYW1lIjoibGlzdDNfMjAyNTA2MjYwOSIsImVkaXRlZCI6ImZhbHNlIn0=</bd:templateData>
    </p:ext>
  </p:extLst>
</p:sld>
</file>

<file path=ppt/slides/slide_675b8295-8605-4e3a-ab74-160d9244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TaCZQ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0" y="5564771"/>
            <a:ext cx="12190690" cy="1317407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定义与核心目标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1836554" y="6038850"/>
            <a:ext cx="8425779" cy="19050"/>
          </a:xfrm>
          <a:prstGeom prst="rect">
            <a:avLst/>
          </a:prstGeom>
          <a:noFill/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320475" y="5991225"/>
            <a:ext cx="11550596" cy="146379"/>
          </a:xfrm>
          <a:prstGeom prst="roundRect">
            <a:avLst>
              <a:gd fmla="val 29782" name="adj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6" name="Group 6"/>
          <p:cNvGrpSpPr/>
          <p:nvPr/>
        </p:nvGrpSpPr>
        <p:grpSpPr>
          <a:xfrm rot="0">
            <a:off x="756982" y="2038350"/>
            <a:ext cx="2438400" cy="4019550"/>
            <a:chOff x="756982" y="2038350"/>
            <a:chExt cx="2438400" cy="4019550"/>
          </a:xfrm>
        </p:grpSpPr>
        <p:sp>
          <p:nvSpPr>
            <p:cNvPr id="7" name="AutoShape 7"/>
            <p:cNvSpPr/>
            <p:nvPr/>
          </p:nvSpPr>
          <p:spPr>
            <a:xfrm rot="0">
              <a:off x="756982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 rot="0">
              <a:off x="756982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9" name="Group 9"/>
          <p:cNvGrpSpPr/>
          <p:nvPr/>
        </p:nvGrpSpPr>
        <p:grpSpPr>
          <a:xfrm rot="0">
            <a:off x="776032" y="2057470"/>
            <a:ext cx="2400300" cy="3933686"/>
            <a:chOff x="776032" y="2057470"/>
            <a:chExt cx="2400300" cy="3933686"/>
          </a:xfrm>
        </p:grpSpPr>
        <p:sp>
          <p:nvSpPr>
            <p:cNvPr id="10" name="AutoShape 10"/>
            <p:cNvSpPr/>
            <p:nvPr/>
          </p:nvSpPr>
          <p:spPr>
            <a:xfrm rot="0">
              <a:off x="776032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 rot="0">
              <a:off x="776032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lp0D63">
            <a:alphaModFix amt="100000"/>
          </a:blip>
          <a:srcRect l="17125" r="17125"/>
          <a:stretch>
            <a:fillRect/>
          </a:stretch>
        </p:blipFill>
        <p:spPr>
          <a:xfrm flipH="0" rot="0">
            <a:off x="1166557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13" name="AutoShape 13"/>
          <p:cNvSpPr/>
          <p:nvPr/>
        </p:nvSpPr>
        <p:spPr>
          <a:xfrm rot="0">
            <a:off x="785557" y="4021401"/>
            <a:ext cx="2381250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6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智能化集成系统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eyJfdGVtcGxhdGVEYXRhIjp7ImNvbnRlbnRUeXBlIjoiJGl0ZW0xX3RpdGxlIiwibGluZUNvdW50IjoiMSIsIndvcmRDb3VudCI6IjkifSwidGFnIjoiJGl0ZW0xX3RpdGxlIn0=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766507" y="4515081"/>
            <a:ext cx="2352814" cy="1347864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智慧储运是通过物联网、大数据、人工智能等技术构建的集成化管理系统，实现粮食从生产到消费全链条的数字化监控与动态调控。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eyJfdGVtcGxhdGVEYXRhIjp7ImNvbnRlbnRUeXBlIjoiJGl0ZW0xX2MiLCJsaW5lQ291bnQiOiI1Iiwid29yZENvdW50IjoiMTMifSwidGFnIjoiJGl0ZW0xX2MifQ==</bd:templateData>
          </p:ext>
        </p:extLst>
      </p:sp>
      <p:grpSp>
        <p:nvGrpSpPr>
          <p:cNvPr id="15" name="Group 15"/>
          <p:cNvGrpSpPr/>
          <p:nvPr/>
        </p:nvGrpSpPr>
        <p:grpSpPr>
          <a:xfrm rot="0">
            <a:off x="3511699" y="1519581"/>
            <a:ext cx="2438400" cy="4538319"/>
            <a:chOff x="3511699" y="1519581"/>
            <a:chExt cx="2438400" cy="4538319"/>
          </a:xfrm>
        </p:grpSpPr>
        <p:sp>
          <p:nvSpPr>
            <p:cNvPr id="16" name="AutoShape 16"/>
            <p:cNvSpPr/>
            <p:nvPr/>
          </p:nvSpPr>
          <p:spPr>
            <a:xfrm rot="0">
              <a:off x="3511699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 rot="0">
              <a:off x="3511699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18" name="Group 18"/>
          <p:cNvGrpSpPr/>
          <p:nvPr/>
        </p:nvGrpSpPr>
        <p:grpSpPr>
          <a:xfrm rot="0">
            <a:off x="3530749" y="1538700"/>
            <a:ext cx="2400300" cy="4519200"/>
            <a:chOff x="3530749" y="1538700"/>
            <a:chExt cx="2400300" cy="4519200"/>
          </a:xfrm>
        </p:grpSpPr>
        <p:sp>
          <p:nvSpPr>
            <p:cNvPr id="19" name="AutoShape 19"/>
            <p:cNvSpPr/>
            <p:nvPr/>
          </p:nvSpPr>
          <p:spPr>
            <a:xfrm rot="0">
              <a:off x="3530749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 rot="0">
              <a:off x="3530749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ZiFsFx">
            <a:alphaModFix amt="100000"/>
          </a:blip>
          <a:srcRect l="25000" r="25000"/>
          <a:stretch>
            <a:fillRect/>
          </a:stretch>
        </p:blipFill>
        <p:spPr>
          <a:xfrm flipH="0" rot="0">
            <a:off x="3921274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sp>
        <p:nvSpPr>
          <p:cNvPr id="22" name="AutoShape 22"/>
          <p:cNvSpPr/>
          <p:nvPr/>
        </p:nvSpPr>
        <p:spPr>
          <a:xfrm rot="0">
            <a:off x="3530749" y="3664557"/>
            <a:ext cx="2381250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6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粮食安全保障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eyJfdGVtcGxhdGVEYXRhIjp7ImNvbnRlbnRUeXBlIjoiJGl0ZW0yX3RpdGxlIiwibGluZUNvdW50IjoiMSIsIndvcmRDb3VudCI6IjkifSwidGFnIjoiJGl0ZW0yX3RpdGxlIn0=</bd:templateData>
          </p:ext>
        </p:extLst>
      </p:sp>
      <p:sp>
        <p:nvSpPr>
          <p:cNvPr id="23" name="TextBox 23"/>
          <p:cNvSpPr txBox="1"/>
          <p:nvPr/>
        </p:nvSpPr>
        <p:spPr>
          <a:xfrm rot="0">
            <a:off x="3516391" y="4158236"/>
            <a:ext cx="2352814" cy="1347864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以国家粮食安全为核心目标，通过智能感知、精准调控等技术手段，确保粮食储备质量稳定和供应链韧性。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eyJfdGVtcGxhdGVEYXRhIjp7ImNvbnRlbnRUeXBlIjoiJGl0ZW0yX2MiLCJsaW5lQ291bnQiOiI1Iiwid29yZENvdW50IjoiMTMifSwidGFnIjoiJGl0ZW0yX2MifQ==</bd:templateData>
          </p:ext>
        </p:extLst>
      </p:sp>
      <p:grpSp>
        <p:nvGrpSpPr>
          <p:cNvPr id="24" name="Group 24"/>
          <p:cNvGrpSpPr/>
          <p:nvPr/>
        </p:nvGrpSpPr>
        <p:grpSpPr>
          <a:xfrm rot="0">
            <a:off x="6276080" y="1519581"/>
            <a:ext cx="2438400" cy="4538319"/>
            <a:chOff x="6276080" y="1519581"/>
            <a:chExt cx="2438400" cy="4538319"/>
          </a:xfrm>
        </p:grpSpPr>
        <p:sp>
          <p:nvSpPr>
            <p:cNvPr id="25" name="AutoShape 25"/>
            <p:cNvSpPr/>
            <p:nvPr/>
          </p:nvSpPr>
          <p:spPr>
            <a:xfrm rot="0">
              <a:off x="6276080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 rot="0">
              <a:off x="6276080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27" name="Group 27"/>
          <p:cNvGrpSpPr/>
          <p:nvPr/>
        </p:nvGrpSpPr>
        <p:grpSpPr>
          <a:xfrm rot="0">
            <a:off x="6295130" y="1538700"/>
            <a:ext cx="2400300" cy="4519200"/>
            <a:chOff x="6295130" y="1538700"/>
            <a:chExt cx="2400300" cy="4519200"/>
          </a:xfrm>
        </p:grpSpPr>
        <p:sp>
          <p:nvSpPr>
            <p:cNvPr id="28" name="AutoShape 28"/>
            <p:cNvSpPr/>
            <p:nvPr/>
          </p:nvSpPr>
          <p:spPr>
            <a:xfrm rot="0">
              <a:off x="6295130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 rot="0">
              <a:off x="6295130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yBhEOb">
            <a:alphaModFix amt="100000"/>
          </a:blip>
          <a:srcRect l="22208" r="22208"/>
          <a:stretch>
            <a:fillRect/>
          </a:stretch>
        </p:blipFill>
        <p:spPr>
          <a:xfrm flipH="0" rot="0">
            <a:off x="6685655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id="31" name="AutoShape 31"/>
          <p:cNvSpPr/>
          <p:nvPr/>
        </p:nvSpPr>
        <p:spPr>
          <a:xfrm rot="0">
            <a:off x="6295130" y="3664557"/>
            <a:ext cx="2381250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65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全链条优化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eyJfdGVtcGxhdGVEYXRhIjp7ImNvbnRlbnRUeXBlIjoiJGl0ZW0zX3RpdGxlIiwibGluZUNvdW50IjoiMSIsIndvcmRDb3VudCI6IjkifSwidGFnIjoiJGl0ZW0zX3RpdGxlIn0=</bd:templateData>
          </p:ext>
        </p:extLst>
      </p:sp>
      <p:sp>
        <p:nvSpPr>
          <p:cNvPr id="32" name="TextBox 32"/>
          <p:cNvSpPr txBox="1"/>
          <p:nvPr/>
        </p:nvSpPr>
        <p:spPr>
          <a:xfrm rot="0">
            <a:off x="6280772" y="4158236"/>
            <a:ext cx="2352814" cy="1347864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覆盖粮食生产、流通、储备、消费等环节，通过数据驱动实现仓储效率提升、损耗降低和资源优化配置。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eyJfdGVtcGxhdGVEYXRhIjp7ImNvbnRlbnRUeXBlIjoiJGl0ZW0zX2MiLCJsaW5lQ291bnQiOiI1Iiwid29yZENvdW50IjoiMTMifSwidGFnIjoiJGl0ZW0zX2MifQ==</bd:templateData>
          </p:ext>
        </p:extLst>
      </p:sp>
      <p:grpSp>
        <p:nvGrpSpPr>
          <p:cNvPr id="33" name="Group 33"/>
          <p:cNvGrpSpPr/>
          <p:nvPr/>
        </p:nvGrpSpPr>
        <p:grpSpPr>
          <a:xfrm rot="0">
            <a:off x="9022814" y="2038350"/>
            <a:ext cx="2438400" cy="4019550"/>
            <a:chOff x="9022814" y="2038350"/>
            <a:chExt cx="2438400" cy="4019550"/>
          </a:xfrm>
        </p:grpSpPr>
        <p:sp>
          <p:nvSpPr>
            <p:cNvPr id="34" name="AutoShape 34"/>
            <p:cNvSpPr/>
            <p:nvPr/>
          </p:nvSpPr>
          <p:spPr>
            <a:xfrm rot="0">
              <a:off x="9022814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 rot="0">
              <a:off x="9022814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36" name="Group 36"/>
          <p:cNvGrpSpPr/>
          <p:nvPr/>
        </p:nvGrpSpPr>
        <p:grpSpPr>
          <a:xfrm rot="0">
            <a:off x="9041864" y="2057470"/>
            <a:ext cx="2400300" cy="3933686"/>
            <a:chOff x="9041864" y="2057470"/>
            <a:chExt cx="2400300" cy="3933686"/>
          </a:xfrm>
        </p:grpSpPr>
        <p:sp>
          <p:nvSpPr>
            <p:cNvPr id="37" name="AutoShape 37"/>
            <p:cNvSpPr/>
            <p:nvPr/>
          </p:nvSpPr>
          <p:spPr>
            <a:xfrm rot="0">
              <a:off x="9041864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/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 rot="0">
              <a:off x="9041864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NdWXzN">
            <a:alphaModFix amt="100000"/>
          </a:blip>
          <a:srcRect b="0" l="21875" r="21875" t="0"/>
          <a:stretch>
            <a:fillRect/>
          </a:stretch>
        </p:blipFill>
        <p:spPr>
          <a:xfrm flipH="0" rot="0">
            <a:off x="9432389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eyJfdGVtcGxhdGVEYXRhIjp7ImNvbnRlbnRUeXBlIjoiJGltZzMifSwidGFnIjoiJGltZzMifQ==</bd:templateData>
          </p:ext>
        </p:extLst>
      </p:pic>
      <p:sp>
        <p:nvSpPr>
          <p:cNvPr id="40" name="AutoShape 40"/>
          <p:cNvSpPr/>
          <p:nvPr/>
        </p:nvSpPr>
        <p:spPr>
          <a:xfrm rot="0">
            <a:off x="9051389" y="4021401"/>
            <a:ext cx="2381250" cy="454737"/>
          </a:xfrm>
          <a:prstGeom prst="rect">
            <a:avLst/>
          </a:prstGeom>
          <a:noFill/>
          <a:ln/>
        </p:spPr>
        <p:txBody>
          <a:bodyPr anchor="b" anchorCtr="1" bIns="45720" lIns="91440" rIns="91440" rtlCol="0" tIns="45720" vert="horz" wrap="square">
            <a:normAutofit/>
          </a:bodyPr>
          <a:lstStyle/>
          <a:p>
            <a:pPr algn="ctr">
              <a:defRPr/>
            </a:pPr>
            <a:r>
              <a:rPr b="1" lang="en-US" sz="16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技术融合创新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eyJfdGVtcGxhdGVEYXRhIjp7ImNvbnRlbnRUeXBlIjoiJGl0ZW00X3RpdGxlIiwibGluZUNvdW50IjoiMSIsIndvcmRDb3VudCI6IjkifSwidGFnIjoiJGl0ZW00X3RpdGxlIn0=</bd:templateData>
          </p:ext>
        </p:extLst>
      </p:sp>
      <p:sp>
        <p:nvSpPr>
          <p:cNvPr id="41" name="TextBox 41"/>
          <p:cNvSpPr txBox="1"/>
          <p:nvPr/>
        </p:nvSpPr>
        <p:spPr>
          <a:xfrm rot="0">
            <a:off x="9032339" y="4515081"/>
            <a:ext cx="2352814" cy="1347864"/>
          </a:xfrm>
          <a:prstGeom prst="rect">
            <a:avLst/>
          </a:prstGeom>
          <a:ln/>
        </p:spPr>
        <p:txBody>
          <a:bodyPr anchor="t" anchorCtr="0" bIns="57150" lIns="123825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依托传感器、机器人、区块链等跨领域技术，推动传统储运向自动化、可视化、智能化转型。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eyJfdGVtcGxhdGVEYXRhIjp7ImNvbnRlbnRUeXBlIjoiJGl0ZW00X2MiLCJsaW5lQ291bnQiOiI1Iiwid29yZENvdW50IjoiMTMifSwidGFnIjoiJGl0ZW00X2MifQ==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muS5ieS4juaguOW/g+ebruagh1xuIyMjIOaZuuiDveWMlumbhuaIkOezu+e7n1xu5pm65oWn5YKo6L+Q5piv6YCa6L+H54mp6IGU572R44CB5aSn5pWw5o2u44CB5Lq65bel5pm66IO9562J5oqA5pyv5p6E5bu655qE6ZuG5oiQ5YyW566h55CG57O757uf77yM5a6e546w57Ku6aOf5LuO55Sf5Lqn5Yiw5raI6LS55YWo6ZO+5p2h55qE5pWw5a2X5YyW55uR5o6n5LiO5Yqo5oCB6LCD5o6n44CCXG4jIyMg57Ku6aOf5a6J5YWo5L+d6ZqcXG7ku6Xlm73lrrbnsq7po5/lronlhajkuLrmoLjlv4Pnm67moIfvvIzpgJrov4fmmbrog73mhJ/nn6XjgIHnsr7lh4bosIPmjqfnrYnmioDmnK/miYvmrrXvvIznoa7kv53nsq7po5/lgqjlpIfotKjph4/nqLPlrprlkozkvpvlupTpk77pn6fmgKfjgIJcbiMjIyDlhajpk77mnaHkvJjljJZcbuimhueblueyrumjn+eUn+S6p+OAgea1gemAmuOAgeWCqOWkh+OAgea2iOi0ueetieeOr+iKgu+8jOmAmui/h+aVsOaNrumpseWKqOWunueOsOS7k+WCqOaViOeOh+aPkOWNh+OAgeaNn+iAl+mZjeS9juWSjOi1hOa6kOS8mOWMlumFjee9ruOAglxuIyMjIOaKgOacr+iejeWQiOWIm+aWsFxu5L6d5omY5Lyg5oSf5Zmo44CB5py65Zmo5Lq644CB5Yy65Z2X6ZO+562J6Leo6aKG5Z+f5oqA5pyv77yM5o6o5Yqo5Lyg57uf5YKo6L+Q5ZCR6Ieq5Yqo5YyW44CB5Y+v6KeG5YyW44CB5pm66IO95YyW6L2s5Z6L44CCIiwidHBsaWQiOiIxMDI0ODUiLCJ0cGxOYW1lIjoibGlzdDRfMjAyNTA3MDMxMCIsImVkaXRlZCI6ImZhbHNlIn0=</bd:templateData>
    </p:ext>
  </p:extLst>
</p:sld>
</file>

<file path=ppt/slides/slide_1691c5b7-da5b-4fe0-b2ba-c2a314cf4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dAiDkg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WMS智能仓储管理系统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6" name="Freeform 6"/>
          <p:cNvSpPr/>
          <p:nvPr/>
        </p:nvSpPr>
        <p:spPr>
          <a:xfrm rot="0">
            <a:off x="751830" y="3591361"/>
            <a:ext cx="3577051" cy="561048"/>
          </a:xfrm>
          <a:custGeom>
            <a:avLst/>
            <a:gdLst/>
            <a:ahLst/>
            <a:cxnLst/>
            <a:rect b="b" l="l" r="r" t="t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Freeform 7"/>
          <p:cNvSpPr/>
          <p:nvPr/>
        </p:nvSpPr>
        <p:spPr>
          <a:xfrm rot="0">
            <a:off x="4307248" y="3591655"/>
            <a:ext cx="3577051" cy="561048"/>
          </a:xfrm>
          <a:custGeom>
            <a:avLst/>
            <a:gdLst/>
            <a:ahLst/>
            <a:cxnLst/>
            <a:rect b="b" l="l" r="r" t="t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8" name="Freeform 8"/>
          <p:cNvSpPr/>
          <p:nvPr/>
        </p:nvSpPr>
        <p:spPr>
          <a:xfrm rot="0">
            <a:off x="7884299" y="3591655"/>
            <a:ext cx="3577051" cy="561048"/>
          </a:xfrm>
          <a:custGeom>
            <a:avLst/>
            <a:gdLst/>
            <a:ahLst/>
            <a:cxnLst/>
            <a:rect b="b" l="l" r="r" t="t"/>
            <a:pathLst>
              <a:path h="507819" w="4229101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W42AZD">
            <a:alphaModFix amt="100000"/>
          </a:blip>
          <a:srcRect/>
          <a:stretch>
            <a:fillRect/>
          </a:stretch>
        </p:blipFill>
        <p:spPr>
          <a:xfrm flipH="0" rot="0"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lML7qK">
            <a:alphaModFix amt="100000"/>
          </a:blip>
          <a:srcRect/>
          <a:stretch>
            <a:fillRect/>
          </a:stretch>
        </p:blipFill>
        <p:spPr>
          <a:xfrm flipH="0" rot="0"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m637jU">
            <a:alphaModFix amt="100000"/>
          </a:blip>
          <a:srcRect b="3222" t="3222"/>
          <a:stretch>
            <a:fillRect/>
          </a:stretch>
        </p:blipFill>
        <p:spPr>
          <a:xfrm flipH="0" rot="0"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id="12" name="TextBox 12"/>
          <p:cNvSpPr txBox="1"/>
          <p:nvPr/>
        </p:nvSpPr>
        <p:spPr>
          <a:xfrm rot="0">
            <a:off x="1074382" y="4420514"/>
            <a:ext cx="2914491" cy="560761"/>
          </a:xfrm>
          <a:prstGeom prst="rect">
            <a:avLst/>
          </a:prstGeom>
          <a:ln/>
        </p:spPr>
        <p:txBody>
          <a:bodyPr anchor="t" anchorCtr="0" bIns="0" lIns="76200" rIns="57150" rtlCol="0" tIns="0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多维度库存管理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924823" y="4971031"/>
            <a:ext cx="3213608" cy="1242957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支持批次、效期、库位等多属性管理，实现精细化库存控制与动态追踪。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4612719" y="1571876"/>
            <a:ext cx="2954298" cy="560761"/>
          </a:xfrm>
          <a:prstGeom prst="rect">
            <a:avLst/>
          </a:prstGeom>
          <a:ln/>
        </p:spPr>
        <p:txBody>
          <a:bodyPr anchor="t" anchorCtr="0" bIns="0" lIns="76200" rIns="57150" rtlCol="0" tIns="0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b="1" lang="en-US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自动化作业协同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eyJfdGVtcGxhdGVEYXRhIjp7ImNvbnRlbnRUeXBlIjoiJGl0ZW0yX3RpdGxlIiwibGluZUNvdW50IjoiNCIsIndvcmRDb3VudCI6IjE1In0sInRhZyI6IiRpdGVtMl90aXRsZSJ9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4467838" y="2070075"/>
            <a:ext cx="3244061" cy="1242957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集成AGV、机械臂等设备，优化拣选、上架、盘点流程，提升仓储效率30%以上。  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8146416" y="4420514"/>
            <a:ext cx="2954412" cy="560761"/>
          </a:xfrm>
          <a:prstGeom prst="rect">
            <a:avLst/>
          </a:prstGeom>
          <a:ln/>
        </p:spPr>
        <p:txBody>
          <a:bodyPr anchor="t" anchorCtr="0" bIns="0" lIns="76200" rIns="57150" rtlCol="0" tIns="0" vert="horz"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b="1" lang="en-US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实时数据分析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8021552" y="4971031"/>
            <a:ext cx="3204140" cy="1242957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通过BI看板可视化库存周转率、作业准确率等关键指标，辅助决策优化供应链响应速度。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id="18" name="Freeform 18"/>
          <p:cNvSpPr/>
          <p:nvPr/>
        </p:nvSpPr>
        <p:spPr>
          <a:xfrm rot="0">
            <a:off x="2334095" y="3665624"/>
            <a:ext cx="412521" cy="412521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9" name="Freeform 19"/>
          <p:cNvSpPr/>
          <p:nvPr/>
        </p:nvSpPr>
        <p:spPr>
          <a:xfrm rot="0">
            <a:off x="5927547" y="3703953"/>
            <a:ext cx="336452" cy="336452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h="304800" w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h="304800" w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Freeform 20"/>
          <p:cNvSpPr/>
          <p:nvPr/>
        </p:nvSpPr>
        <p:spPr>
          <a:xfrm rot="0">
            <a:off x="9494081" y="3693435"/>
            <a:ext cx="357486" cy="357486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FdNU+aZuuiDveS7k+WCqOeuoeeQhuezu+e7n1xuIyMjIOWkmue7tOW6puW6k+WtmOeuoeeQhlxu5pSv5oyB5om55qyh44CB5pWI5pyf44CB5bqT5L2N562J5aSa5bGe5oCn566h55CG77yM5a6e546w57K+57uG5YyW5bqT5a2Y5o6n5Yi25LiO5Yqo5oCB6L+96Liq44CCICBcbiMjIyDoh6rliqjljJbkvZzkuJrljY/lkIxcbumbhuaIkEFHVuOAgeacuuaisOiHguetieiuvuWkh++8jOS8mOWMluaLo+mAieOAgeS4iuaetuOAgeebmOeCuea1geeoi++8jOaPkOWNh+S7k+WCqOaViOeOhzMwJeS7peS4iuOAgiAgXG4jIyMg5a6e5pe25pWw5o2u5YiG5p6QXG7pgJrov4dCSeeci+adv+WPr+inhuWMluW6k+WtmOWRqOi9rOeOh+OAgeS9nOS4muWHhuehrueOh+etieWFs+mUruaMh+agh++8jOi+heWKqeWGs+etluS8mOWMluS+m+W6lOmTvuWTjeW6lOmAn+W6puOAgiIsInRwbGlkIjoiMTAyNDg1IiwidHBsTmFtZSI6Imxpc3QzXzIwMjUwNzAxMDkiLCJlZGl0ZWQiOiJmYWxzZSJ9</bd:templateData>
    </p:ext>
  </p:extLst>
</p:sld>
</file>

<file path=ppt/slides/slide_1778c36f-80ff-4e78-a4c2-8297446927d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DOFICn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智慧储运概述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gWeA8K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eyJtZCI6IiMjIOaZuuaFp+WCqOi/kOamgui/sCIsInRwbGlkIjoiMTAyNDg1IiwidHBsTmFtZSI6ImgydGl0bGVfY2h1YW5na2V0aWUwMDIiLCJlZGl0ZWQiOiJmYWxzZSJ9</bd:templateData>
    </p:ext>
  </p:extLst>
</p:sld>
</file>

<file path=ppt/slides/slide_56259d02-1a77-447c-a2ff-1bddc9e64e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bYHQb6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4915035" y="4715149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4918415" y="3060483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0">
            <a:off x="3999788" y="1823026"/>
            <a:ext cx="891411" cy="3949143"/>
          </a:xfrm>
          <a:custGeom>
            <a:avLst/>
            <a:gdLst/>
            <a:ahLst/>
            <a:cxnLst/>
            <a:rect b="b" l="l" r="r" t="t"/>
            <a:pathLst>
              <a:path h="3949143" w="891411">
                <a:moveTo>
                  <a:pt x="891411" y="0"/>
                </a:moveTo>
                <a:quadBezTo>
                  <a:pt x="445706" y="0"/>
                  <a:pt x="445706" y="394914"/>
                </a:quadBezTo>
                <a:lnTo>
                  <a:pt x="445706" y="1579657"/>
                </a:lnTo>
                <a:quadBezTo>
                  <a:pt x="445706" y="1974572"/>
                  <a:pt x="0" y="1974572"/>
                </a:quadBezTo>
                <a:quadBezTo>
                  <a:pt x="445706" y="1974572"/>
                  <a:pt x="445706" y="2369486"/>
                </a:quadBezTo>
                <a:lnTo>
                  <a:pt x="445706" y="3554229"/>
                </a:lnTo>
                <a:quadBezTo>
                  <a:pt x="445706" y="3949143"/>
                  <a:pt x="891411" y="3949143"/>
                </a:quadBezTo>
              </a:path>
            </a:pathLst>
          </a:custGeom>
          <a:noFill/>
          <a:ln w="127000">
            <a:gradFill>
              <a:gsLst>
                <a:gs pos="0">
                  <a:schemeClr val="accent1">
                    <a:alpha val="0"/>
                    <a:lumMod val="5000"/>
                    <a:lumOff val="95000"/>
                  </a:schemeClr>
                </a:gs>
                <a:gs pos="62000">
                  <a:schemeClr val="accent1">
                    <a:alpha val="20000"/>
                  </a:schemeClr>
                </a:gs>
                <a:gs pos="100000">
                  <a:schemeClr val="accent1">
                    <a:alpha val="20000"/>
                    <a:lumMod val="40000"/>
                    <a:lumOff val="60000"/>
                  </a:schemeClr>
                </a:gs>
              </a:gsLst>
              <a:lin ang="108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人力成本降低（70%+）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829525" y="2300544"/>
            <a:ext cx="2994106" cy="2994106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1015825" y="2486844"/>
            <a:ext cx="2621506" cy="2621506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8" name="Picture 8"/>
          <p:cNvPicPr>
            <a:picLocks noChangeAspect="1"/>
          </p:cNvPicPr>
          <p:nvPr/>
        </p:nvPicPr>
        <p:blipFill>
          <a:blip r:embed="rIdFU8vuA">
            <a:alphaModFix amt="100000"/>
          </a:blip>
          <a:srcRect l="12866" r="12866"/>
          <a:stretch>
            <a:fillRect/>
          </a:stretch>
        </p:blipFill>
        <p:spPr>
          <a:xfrm flipH="0" rot="0">
            <a:off x="1147718" y="2618737"/>
            <a:ext cx="2357721" cy="2357721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9" name="AutoShape 9"/>
          <p:cNvSpPr/>
          <p:nvPr/>
        </p:nvSpPr>
        <p:spPr>
          <a:xfrm rot="0">
            <a:off x="4929622" y="1421605"/>
            <a:ext cx="6480577" cy="1472880"/>
          </a:xfrm>
          <a:prstGeom prst="roundRect">
            <a:avLst>
              <a:gd fmla="val 16667" name="adj"/>
            </a:avLst>
          </a:prstGeom>
          <a:solidFill>
            <a:schemeClr val="l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0">
            <a:off x="5163786" y="1545356"/>
            <a:ext cx="4410330" cy="49255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自动化设备替代人工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eyJfdGVtcGxhdGVEYXRhIjp7ImNvbnRlbnRUeXBlIjoiJGl0ZW0xX3RpdGxlIiwibGluZUNvdW50IjoiMSIsIndvcmRDb3VudCI6IjEyIn0sInRhZyI6IiRpdGVtMV90aXRsZSJ9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5135211" y="2009338"/>
            <a:ext cx="5964430" cy="609398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通过AGV机器人、自动分拣系统等智能设备，实现货物搬运、分拣全程无人化，减少对熟练工人的依赖，直接降低70%以上的人力成本。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eyJfdGVtcGxhdGVEYXRhIjp7ImNvbnRlbnRUeXBlIjoiJGl0ZW0xX2MiLCJsaW5lQ291bnQiOiIyIiwid29yZENvdW50IjoiMzMifSwidGFnIjoiJGl0ZW0xX2MifQ==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5124004" y="3648216"/>
            <a:ext cx="5964430" cy="609398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智能仓储管理系统（WMS）自动优化排班和任务分配，减少人工调度环节，避免因人为失误导致的重复劳动或资源浪费。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eyJfdGVtcGxhdGVEYXRhIjp7ImNvbnRlbnRUeXBlIjoiJGl0ZW0yX2MiLCJsaW5lQ291bnQiOiIyIiwid29yZENvdW50IjoiMzMifSwidGFnIjoiJGl0ZW0yX2MifQ==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5120625" y="5302882"/>
            <a:ext cx="5964430" cy="609398"/>
          </a:xfrm>
          <a:prstGeom prst="rect">
            <a:avLst/>
          </a:prstGeom>
          <a:ln/>
        </p:spPr>
        <p:txBody>
          <a:bodyPr anchor="t" anchorCtr="0" bIns="57150" lIns="76200" rIns="5715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虽然初期投入较高，但设备维护成本远低于持续的人力支出，3-5年内即可收回投资成本，长期效益显著。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eyJfdGVtcGxhdGVEYXRhIjp7ImNvbnRlbnRUeXBlIjoiJGl0ZW0zX2MiLCJsaW5lQ291bnQiOiIyIiwid29yZENvdW50IjoiMzMifSwidGFnIjoiJGl0ZW0zX2MifQ==</bd:templateData>
          </p:ext>
        </p:extLst>
      </p:sp>
      <p:sp>
        <p:nvSpPr>
          <p:cNvPr id="14" name="AutoShape 14"/>
          <p:cNvSpPr/>
          <p:nvPr/>
        </p:nvSpPr>
        <p:spPr>
          <a:xfrm rot="0">
            <a:off x="105409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1067430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AutoShape 16"/>
          <p:cNvSpPr/>
          <p:nvPr/>
        </p:nvSpPr>
        <p:spPr>
          <a:xfrm rot="0">
            <a:off x="10807651" y="1696385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7" name="AutoShape 17"/>
          <p:cNvSpPr/>
          <p:nvPr/>
        </p:nvSpPr>
        <p:spPr>
          <a:xfrm rot="0">
            <a:off x="105409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8" name="AutoShape 18"/>
          <p:cNvSpPr/>
          <p:nvPr/>
        </p:nvSpPr>
        <p:spPr>
          <a:xfrm rot="0">
            <a:off x="1067430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9" name="AutoShape 19"/>
          <p:cNvSpPr/>
          <p:nvPr/>
        </p:nvSpPr>
        <p:spPr>
          <a:xfrm rot="0">
            <a:off x="10807651" y="3335263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0" name="AutoShape 20"/>
          <p:cNvSpPr/>
          <p:nvPr/>
        </p:nvSpPr>
        <p:spPr>
          <a:xfrm rot="0">
            <a:off x="105882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1" name="AutoShape 21"/>
          <p:cNvSpPr/>
          <p:nvPr/>
        </p:nvSpPr>
        <p:spPr>
          <a:xfrm rot="0">
            <a:off x="1072164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2" name="AutoShape 22"/>
          <p:cNvSpPr/>
          <p:nvPr/>
        </p:nvSpPr>
        <p:spPr>
          <a:xfrm rot="0">
            <a:off x="10854996" y="4989928"/>
            <a:ext cx="190500" cy="190500"/>
          </a:xfrm>
          <a:prstGeom prst="ellips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23" name="AutoShape 23"/>
          <p:cNvSpPr/>
          <p:nvPr/>
        </p:nvSpPr>
        <p:spPr>
          <a:xfrm rot="0">
            <a:off x="5163786" y="3184234"/>
            <a:ext cx="4410330" cy="49255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400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减少管理冗余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eyJfdGVtcGxhdGVEYXRhIjp7ImNvbnRlbnRUeXBlIjoiJGl0ZW0yX3RpdGxlIiwibGluZUNvdW50IjoiMSIsIndvcmRDb3VudCI6IjEyIn0sInRhZyI6IiRpdGVtMl90aXRsZSJ9</bd:templateData>
          </p:ext>
        </p:extLst>
      </p:sp>
      <p:sp>
        <p:nvSpPr>
          <p:cNvPr id="24" name="AutoShape 24"/>
          <p:cNvSpPr/>
          <p:nvPr/>
        </p:nvSpPr>
        <p:spPr>
          <a:xfrm rot="0">
            <a:off x="5163786" y="4862072"/>
            <a:ext cx="4410330" cy="492557"/>
          </a:xfrm>
          <a:prstGeom prst="rect">
            <a:avLst/>
          </a:prstGeom>
          <a:noFill/>
          <a:ln/>
        </p:spPr>
        <p:txBody>
          <a:bodyPr anchor="ctr" anchorCtr="0" bIns="0" lIns="0" rIns="0" rtlCol="0" tIns="0" vert="horz" wrap="square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b="1" lang="en-US" sz="2400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长期成本优势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6uuWKm+aIkOacrOmZjeS9ju+8iDcwJSvvvIlcbiMjIyDoh6rliqjljJborr7lpIfmm7/ku6Pkurrlt6VcbumAmui/h0FHVuacuuWZqOS6uuOAgeiHquWKqOWIhuaLo+ezu+e7n+etieaZuuiDveiuvuWkh++8jOWunueOsOi0p+eJqeaQrOi/kOOAgeWIhuaLo+WFqOeoi+aXoOS6uuWMlu+8jOWHj+WwkeWvueeGn+e7g+W3peS6uueahOS+nei1lu+8jOebtOaOpemZjeS9jjcwJeS7peS4iueahOS6uuWKm+aIkOacrOOAglxuIyMjIOWHj+WwkeeuoeeQhuWGl+S9mVxu5pm66IO95LuT5YKo566h55CG57O757uf77yIV01T77yJ6Ieq5Yqo5LyY5YyW5o6S54+t5ZKM5Lu75Yqh5YiG6YWN77yM5YeP5bCR5Lq65bel6LCD5bqm546v6IqC77yM6YG/5YWN5Zug5Lq65Li65aSx6K+v5a+86Ie055qE6YeN5aSN5Yqz5Yqo5oiW6LWE5rqQ5rWq6LS544CCXG4jIyMg6ZW/5pyf5oiQ5pys5LyY5Yq/XG7omb3nhLbliJ3mnJ/mipXlhaXovoPpq5jvvIzkvYborr7lpIfnu7TmiqTmiJDmnKzov5zkvY7kuo7mjIHnu63nmoTkurrlipvmlK/lh7rvvIwzLTXlubTlhoXljbPlj6/mlLblm57mipXotYTmiJDmnKzvvIzplb/mnJ/mlYjnm4rmmL7okZfjgIIiLCJ0cGxpZCI6IjEwMjQ4NSIsInRwbE5hbWUiOiJsaXN0M18yMDI1MDcwMTA2IiwiZWRpdGVkIjoiZmFsc2UifQ==</bd:templateData>
    </p:ext>
  </p:extLst>
</p:sld>
</file>

<file path=ppt/slides/slide_390710c2-8355-4335-abfa-b2cc4d2dd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MWft6h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015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eyJfdGVtcGxhdGVEYXRhIjp7ImxpbmVDb3VudCI6IjQ3Iiwid29yZENvdW50IjoiMTA0In0sInRhZyI6Im5vRWRpdCJ9</bd:templateData>
          </p:ext>
        </p:extLst>
      </p:sp>
      <p:sp>
        <p:nvSpPr>
          <p:cNvPr id="2000029" name="Freeform 3"/>
          <p:cNvSpPr/>
          <p:nvPr/>
        </p:nvSpPr>
        <p:spPr>
          <a:xfrm rot="0">
            <a:off x="0" y="5053251"/>
            <a:ext cx="12192000" cy="1804748"/>
          </a:xfrm>
          <a:custGeom>
            <a:avLst/>
            <a:gdLst/>
            <a:ahLst/>
            <a:cxnLst/>
            <a:rect b="b" l="l" r="r" t="t"/>
            <a:pathLst>
              <a:path h="1804748" w="12192000">
                <a:moveTo>
                  <a:pt x="0" y="515939"/>
                </a:moveTo>
                <a:lnTo>
                  <a:pt x="12192000" y="515939"/>
                </a:lnTo>
                <a:lnTo>
                  <a:pt x="12192000" y="1804748"/>
                </a:lnTo>
                <a:lnTo>
                  <a:pt x="0" y="1804748"/>
                </a:lnTo>
                <a:close/>
              </a:path>
              <a:path h="1804748" w="12192000">
                <a:moveTo>
                  <a:pt x="11513609" y="0"/>
                </a:moveTo>
                <a:lnTo>
                  <a:pt x="11513609" y="515937"/>
                </a:lnTo>
                <a:lnTo>
                  <a:pt x="10997672" y="515937"/>
                </a:lnTo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eyJfdGVtcGxhdGVEYXRhIjp7ImxpbmVDb3VudCI6IjEyIiwid29yZENvdW50IjoiMTA0In0sInRhZyI6Im5vRWRpdCJ9</bd:templateData>
          </p:ext>
        </p:extLst>
      </p:sp>
      <p:sp>
        <p:nvSpPr>
          <p:cNvPr id="2000013" name="AutoShape 4"/>
          <p:cNvSpPr/>
          <p:nvPr/>
        </p:nvSpPr>
        <p:spPr>
          <a:xfrm rot="0">
            <a:off x="2239519" y="549275"/>
            <a:ext cx="8088372" cy="179388"/>
          </a:xfrm>
          <a:prstGeom prst="roundRect">
            <a:avLst>
              <a:gd fmla="val 50000" name="adj"/>
            </a:avLst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eyJfdGVtcGxhdGVEYXRhIjp7ImxpbmVDb3VudCI6IjEiLCJ3b3JkQ291bnQiOiI2OCJ9LCJ0YWciOiJub0VkaXQifQ==</bd:templateData>
          </p:ext>
        </p:extLst>
      </p:sp>
      <p:sp>
        <p:nvSpPr>
          <p:cNvPr id="2000014" name="AutoShape 5"/>
          <p:cNvSpPr/>
          <p:nvPr/>
        </p:nvSpPr>
        <p:spPr>
          <a:xfrm rot="0">
            <a:off x="10497505" y="549276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2000030" name="AutoShape 6"/>
          <p:cNvSpPr/>
          <p:nvPr/>
        </p:nvSpPr>
        <p:spPr>
          <a:xfrm rot="0">
            <a:off x="10770305" y="549275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2000031" name="AutoShape 7"/>
          <p:cNvSpPr/>
          <p:nvPr/>
        </p:nvSpPr>
        <p:spPr>
          <a:xfrm rot="0">
            <a:off x="11044487" y="549275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2000032" name="AutoShape 8"/>
          <p:cNvSpPr/>
          <p:nvPr/>
        </p:nvSpPr>
        <p:spPr>
          <a:xfrm rot="0">
            <a:off x="11317287" y="549274"/>
            <a:ext cx="179388" cy="179388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eyJfdGVtcGxhdGVEYXRhIjp7ImxpbmVDb3VudCI6IjEiLCJ3b3JkQ291bnQiOiItMSJ9LCJ0YWciOiJub0VkaXQifQ==</bd:templateData>
          </p:ext>
        </p:extLst>
      </p:sp>
      <p:sp>
        <p:nvSpPr>
          <p:cNvPr id="2000010" name="AutoShape 9"/>
          <p:cNvSpPr/>
          <p:nvPr/>
        </p:nvSpPr>
        <p:spPr>
          <a:xfrm rot="0">
            <a:off x="717226" y="425624"/>
            <a:ext cx="1190942" cy="448734"/>
          </a:xfrm>
          <a:prstGeom prst="ellipse">
            <a:avLst/>
          </a:prstGeom>
          <a:solidFill>
            <a:srgbClr val="4588D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eyJfdGVtcGxhdGVEYXRhIjp7ImxpbmVDb3VudCI6IjIiLCJ3b3JkQ291bnQiOiI3In0sInRhZyI6Im5vRWRpdCJ9</bd:templateData>
          </p:ext>
        </p:extLst>
      </p:sp>
      <p:sp>
        <p:nvSpPr>
          <p:cNvPr id="2000034" name="TextBox 10"/>
          <p:cNvSpPr txBox="1"/>
          <p:nvPr/>
        </p:nvSpPr>
        <p:spPr>
          <a:xfrm rot="0">
            <a:off x="918452" y="407738"/>
            <a:ext cx="788491" cy="412805"/>
          </a:xfrm>
          <a:prstGeom prst="rect">
            <a:avLst/>
          </a:prstGeom>
          <a:noFill/>
          <a:ln/>
        </p:spPr>
        <p:txBody>
          <a:bodyPr anchor="t" anchorCtr="0" bIns="0" lIns="0" rIns="0" rtlCol="0" tIns="0" vert="horz"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20XX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eyJfdGVtcGxhdGVEYXRhIjp7ImxpbmVDb3VudCI6IjEiLCJ3b3JkQ291bnQiOiIyIn0sInRhZyI6Im5vRWRpdCJ9</bd:templateData>
          </p:ext>
        </p:extLst>
      </p:sp>
      <p:sp>
        <p:nvSpPr>
          <p:cNvPr id="2000035" name="AutoShape 11"/>
          <p:cNvSpPr/>
          <p:nvPr/>
        </p:nvSpPr>
        <p:spPr>
          <a:xfrm rot="20862818">
            <a:off x="696061" y="428439"/>
            <a:ext cx="1190942" cy="448734"/>
          </a:xfrm>
          <a:prstGeom prst="ellipse">
            <a:avLst/>
          </a:prstGeom>
          <a:noFill/>
          <a:ln w="12700">
            <a:solidFill>
              <a:srgbClr val="4588DA">
                <a:alpha val="100000"/>
              </a:srgbClr>
            </a:solidFill>
            <a:prstDash val="solid"/>
          </a:ln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eyJfdGVtcGxhdGVEYXRhIjp7ImxpbmVDb3VudCI6IjIiLCJ3b3JkQ291bnQiOiI3In0sInRhZyI6Im5vRWRpdCJ9</bd:templateData>
          </p:ext>
        </p:extLst>
      </p:sp>
      <p:grpSp>
        <p:nvGrpSpPr>
          <p:cNvPr id="2000020" name="Group 12"/>
          <p:cNvGrpSpPr/>
          <p:nvPr/>
        </p:nvGrpSpPr>
        <p:grpSpPr>
          <a:xfrm rot="0">
            <a:off x="695325" y="6019609"/>
            <a:ext cx="1065276" cy="438912"/>
            <a:chOff x="695325" y="6019609"/>
            <a:chExt cx="1065276" cy="438912"/>
          </a:xfrm>
        </p:grpSpPr>
        <p:sp>
          <p:nvSpPr>
            <p:cNvPr id="2000055" name="Freeform 13"/>
            <p:cNvSpPr/>
            <p:nvPr/>
          </p:nvSpPr>
          <p:spPr>
            <a:xfrm rot="0">
              <a:off x="695325" y="6022943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2000057" name="Freeform 14"/>
            <p:cNvSpPr/>
            <p:nvPr/>
          </p:nvSpPr>
          <p:spPr>
            <a:xfrm rot="0">
              <a:off x="1107281" y="6019609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2000058" name="Freeform 15"/>
            <p:cNvSpPr/>
            <p:nvPr/>
          </p:nvSpPr>
          <p:spPr>
            <a:xfrm rot="0">
              <a:off x="1519333" y="6019609"/>
              <a:ext cx="241268" cy="435578"/>
            </a:xfrm>
            <a:custGeom>
              <a:avLst/>
              <a:gdLst/>
              <a:ahLst/>
              <a:cxnLst/>
              <a:rect b="b" l="l" r="r" t="t"/>
              <a:pathLst>
                <a:path h="1872431" w="884815">
                  <a:moveTo>
                    <a:pt x="1269" y="0"/>
                  </a:moveTo>
                  <a:lnTo>
                    <a:pt x="5926" y="92219"/>
                  </a:lnTo>
                  <a:cubicBezTo>
                    <a:pt x="50785" y="533941"/>
                    <a:pt x="401954" y="885110"/>
                    <a:pt x="843676" y="929969"/>
                  </a:cubicBezTo>
                  <a:lnTo>
                    <a:pt x="884815" y="932047"/>
                  </a:lnTo>
                  <a:lnTo>
                    <a:pt x="884815" y="936607"/>
                  </a:lnTo>
                  <a:lnTo>
                    <a:pt x="842596" y="938739"/>
                  </a:lnTo>
                  <a:cubicBezTo>
                    <a:pt x="400874" y="983598"/>
                    <a:pt x="49705" y="1334767"/>
                    <a:pt x="4846" y="1776489"/>
                  </a:cubicBezTo>
                  <a:lnTo>
                    <a:pt x="0" y="1872431"/>
                  </a:lnTo>
                  <a:lnTo>
                    <a:pt x="0" y="934082"/>
                  </a:lnTo>
                  <a:lnTo>
                    <a:pt x="1269" y="934082"/>
                  </a:lnTo>
                  <a:lnTo>
                    <a:pt x="1269" y="0"/>
                  </a:lnTo>
                </a:path>
              </a:pathLst>
            </a:custGeom>
            <a:solidFill>
              <a:schemeClr val="lt1">
                <a:alpha val="100000"/>
              </a:schemeClr>
            </a:solidFill>
            <a:ln/>
          </p:spPr>
          <p:txBody>
            <a:bodyPr anchor="ctr" anchorCtr="0" rtlCol="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2000059" name="AutoShape 16"/>
          <p:cNvSpPr/>
          <p:nvPr/>
        </p:nvSpPr>
        <p:spPr>
          <a:xfrm rot="0">
            <a:off x="7151571" y="6031905"/>
            <a:ext cx="4446566" cy="40011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FINANCIAL REPORT TEMPLATE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eyJfdGVtcGxhdGVEYXRhIjp7ImxpbmVDb3VudCI6IjEiLCJ3b3JkQ291bnQiOiIxNSJ9LCJ0YWciOiJub0VkaXQifQ==</bd:templateData>
          </p:ext>
        </p:extLst>
      </p:sp>
      <p:cxnSp>
        <p:nvCxnSpPr>
          <p:cNvPr id="17" name="Connector 17"/>
          <p:cNvCxnSpPr/>
          <p:nvPr/>
        </p:nvCxnSpPr>
        <p:spPr>
          <a:xfrm>
            <a:off x="2109584" y="6223817"/>
            <a:ext cx="4460852" cy="0"/>
          </a:xfrm>
          <a:prstGeom prst="line">
            <a:avLst/>
          </a:prstGeom>
          <a:ln w="12700">
            <a:solidFill>
              <a:schemeClr val="lt1"/>
            </a:solidFill>
            <a:prstDash val="solid"/>
            <a:headEnd type="none"/>
            <a:tailEnd type="triangle"/>
          </a:ln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2000036" name="Freeform 18"/>
          <p:cNvSpPr/>
          <p:nvPr/>
        </p:nvSpPr>
        <p:spPr>
          <a:xfrm rot="2689890">
            <a:off x="7036774" y="6095304"/>
            <a:ext cx="255671" cy="255671"/>
          </a:xfrm>
          <a:custGeom>
            <a:avLst/>
            <a:gdLst/>
            <a:ahLst/>
            <a:cxnLst/>
            <a:rect b="b" l="l" r="r" t="t"/>
            <a:pathLst>
              <a:path h="255671" w="255671">
                <a:moveTo>
                  <a:pt x="100788" y="0"/>
                </a:moveTo>
                <a:lnTo>
                  <a:pt x="100788" y="100788"/>
                </a:lnTo>
                <a:lnTo>
                  <a:pt x="0" y="100788"/>
                </a:lnTo>
                <a:lnTo>
                  <a:pt x="0" y="154883"/>
                </a:lnTo>
                <a:lnTo>
                  <a:pt x="100788" y="154883"/>
                </a:lnTo>
                <a:lnTo>
                  <a:pt x="100788" y="255671"/>
                </a:lnTo>
                <a:lnTo>
                  <a:pt x="154883" y="255671"/>
                </a:lnTo>
                <a:lnTo>
                  <a:pt x="154883" y="154883"/>
                </a:lnTo>
                <a:lnTo>
                  <a:pt x="255671" y="154883"/>
                </a:lnTo>
                <a:lnTo>
                  <a:pt x="255671" y="100788"/>
                </a:lnTo>
                <a:lnTo>
                  <a:pt x="154883" y="100788"/>
                </a:lnTo>
                <a:lnTo>
                  <a:pt x="154883" y="0"/>
                </a:lnTo>
              </a:path>
            </a:pathLst>
          </a:custGeom>
          <a:solidFill>
            <a:schemeClr val="lt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eyJfdGVtcGxhdGVEYXRhIjp7ImxpbmVDb3VudCI6IjEiLCJ3b3JkQ291bnQiOiIifSwidGFnIjoibm9FZGl0In0=</bd:templateData>
          </p:ext>
        </p:extLst>
      </p:sp>
      <p:sp>
        <p:nvSpPr>
          <p:cNvPr id="2000064" name="Freeform 19"/>
          <p:cNvSpPr/>
          <p:nvPr/>
        </p:nvSpPr>
        <p:spPr>
          <a:xfrm rot="5400000">
            <a:off x="5813649" y="1530711"/>
            <a:ext cx="672947" cy="672477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eyJfdGVtcGxhdGVEYXRhIjp7ImxpbmVDb3VudCI6IjQiLCJ3b3JkQ291bnQiOiIzIn0sInRhZyI6Im5vRWRpdCJ9</bd:templateData>
          </p:ext>
        </p:extLst>
      </p:sp>
      <p:sp>
        <p:nvSpPr>
          <p:cNvPr id="2000038" name="Freeform 20"/>
          <p:cNvSpPr/>
          <p:nvPr/>
        </p:nvSpPr>
        <p:spPr>
          <a:xfrm rot="5400000">
            <a:off x="2362831" y="3469447"/>
            <a:ext cx="432041" cy="431739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eyJfdGVtcGxhdGVEYXRhIjp7ImxpbmVDb3VudCI6IjIiLCJ3b3JkQ291bnQiOiIyIn0sInRhZyI6Im5vRWRpdCJ9</bd:templateData>
          </p:ext>
        </p:extLst>
      </p:sp>
      <p:pic>
        <p:nvPicPr>
          <p:cNvPr id="2000018" name="Picture 21"/>
          <p:cNvPicPr>
            <a:picLocks noChangeAspect="1"/>
          </p:cNvPicPr>
          <p:nvPr/>
        </p:nvPicPr>
        <p:blipFill>
          <a:blip r:embed="rIdUL6wp8"/>
          <a:srcRect/>
          <a:stretch>
            <a:fillRect/>
          </a:stretch>
        </p:blipFill>
        <p:spPr>
          <a:xfrm rot="0">
            <a:off x="715069" y="2310604"/>
            <a:ext cx="2921984" cy="2700228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2000037" name="TextBox 22"/>
          <p:cNvSpPr txBox="1"/>
          <p:nvPr/>
        </p:nvSpPr>
        <p:spPr>
          <a:xfrm rot="0">
            <a:off x="7569261" y="2310604"/>
            <a:ext cx="3773805" cy="205359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感谢观看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0">
                <a:solidFill>
                  <a:srgbClr val="000000">
                    <a:alpha val="100000"/>
                  </a:srgbClr>
                </a:solidFill>
                <a:latin typeface="思源黑体 CN Heavy"/>
                <a:ea typeface="思源黑体 CN Heavy"/>
                <a:cs typeface="思源黑体 CN Heavy"/>
              </a:rPr>
              <a:t>后会有期</a:t>
            </a:r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2000039" name="Picture 23"/>
          <p:cNvPicPr>
            <a:picLocks noChangeAspect="1"/>
          </p:cNvPicPr>
          <p:nvPr/>
        </p:nvPicPr>
        <p:blipFill>
          <a:blip r:embed="rIdUDs5uz"/>
          <a:srcRect/>
          <a:stretch>
            <a:fillRect/>
          </a:stretch>
        </p:blipFill>
        <p:spPr>
          <a:xfrm rot="0">
            <a:off x="2007439" y="1031461"/>
            <a:ext cx="4047840" cy="4989289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2000065" name="Freeform 24"/>
          <p:cNvSpPr/>
          <p:nvPr/>
        </p:nvSpPr>
        <p:spPr>
          <a:xfrm rot="5400000">
            <a:off x="6917328" y="4334469"/>
            <a:ext cx="332942" cy="332709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 w="12700">
            <a:solidFill>
              <a:schemeClr val="dk1">
                <a:alpha val="100000"/>
              </a:schemeClr>
            </a:solidFill>
            <a:prstDash val="solid"/>
          </a:ln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eyJtZCI6IiIsInRwbGlkIjoiMTAyNDg1IiwidHBsTmFtZSI6ImVuZF9jaHVhbmdrZXRpZTAwMiIsImVkaXRlZCI6ImZhbHNlIn0=</bd:templateData>
    </p:ext>
  </p:extLst>
</p:sld>
</file>

<file path=ppt/slides/slide_87521464-162b-4bae-80b5-85d8fb263fec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wmBjnZ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-2630295" y="-1017757"/>
            <a:ext cx="9477377" cy="9477377"/>
          </a:xfrm>
          <a:prstGeom prst="ellipse">
            <a:avLst/>
          </a:prstGeom>
          <a:solidFill>
            <a:schemeClr val="accent2">
              <a:alpha val="1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881683" y="329421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7682406" y="1587331"/>
            <a:ext cx="4267200" cy="4267200"/>
          </a:xfrm>
          <a:prstGeom prst="ellipse">
            <a:avLst/>
          </a:prstGeom>
          <a:solidFill>
            <a:schemeClr val="accent2">
              <a:alpha val="2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7020359" y="3294211"/>
            <a:ext cx="800044" cy="862118"/>
          </a:xfrm>
          <a:prstGeom prst="rightArrow">
            <a:avLst/>
          </a:pr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/>
          </a:gra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1471170" y="1787279"/>
            <a:ext cx="4624830" cy="994791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采用堆垛机+四向穿梭车组合，实现托盘/料箱的自动存取，存储密度提升3倍以上，支持24小时无人化作业。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eyJfdGVtcGxhdGVEYXRhIjp7ImNvbnRlbnRUeXBlIjoiJGl0ZW0xX2MiLCJsaW5lQ291bnQiOiIzIiwid29yZENvdW50IjoiMjIifSwidGFnIjoiJGl0ZW0xX2MifQ==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1471170" y="5162560"/>
            <a:ext cx="4624830" cy="100012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结合动态称重与视觉识别技术的交叉带分拣机，处理效率可达8000件/小时，准确率99.99%，适应快递、零售行业的高频出库需求。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eyJfdGVtcGxhdGVEYXRhIjp7ImNvbnRlbnRUeXBlIjoiJGl0ZW0zX2MiLCJsaW5lQ291bnQiOiIzIiwid29yZENvdW50IjoiMjIifSwidGFnIjoiJGl0ZW0zX2MifQ==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7993848" y="1898772"/>
            <a:ext cx="3644317" cy="3644317"/>
          </a:xfrm>
          <a:prstGeom prst="ellipse">
            <a:avLst/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8223571" y="2641548"/>
            <a:ext cx="3184870" cy="2158766"/>
          </a:xfrm>
          <a:prstGeom prst="rect">
            <a:avLst/>
          </a:prstGeom>
          <a:ln/>
        </p:spPr>
        <p:txBody>
          <a:bodyPr anchor="ctr" anchorCtr="1" bIns="57150" lIns="114300" rIns="114300" rtlCol="0" tIns="57150" vert="horz" wrap="square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通过自动化硬件与WMS系统的深度协同，构建高密度、高响应的智能仓储作业体系，显著提升空间利用率和作业效率，降低人工依赖。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eyJfdGVtcGxhdGVEYXRhIjp7ImNvbnRlbnRUeXBlIjoiJHN1bSIsImxpbmVDb3VudCI6IjYiLCJ3b3JkQ291bnQiOiIxNCJ9LCJ0YWciOiIkc3VtIn0=</bd:templateData>
          </p:ext>
        </p:extLst>
      </p:sp>
      <p:sp>
        <p:nvSpPr>
          <p:cNvPr id="10" name="AutoShape 10"/>
          <p:cNvSpPr/>
          <p:nvPr/>
        </p:nvSpPr>
        <p:spPr>
          <a:xfrm rot="0">
            <a:off x="497036" y="158733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Freeform 11"/>
          <p:cNvSpPr/>
          <p:nvPr/>
        </p:nvSpPr>
        <p:spPr>
          <a:xfrm rot="0">
            <a:off x="693146" y="1783441"/>
            <a:ext cx="461221" cy="461221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  <a:moveTo>
                  <a:pt x="99060" y="137160"/>
                </a:moveTo>
                <a:cubicBezTo>
                  <a:pt x="111681" y="137160"/>
                  <a:pt x="121920" y="126921"/>
                  <a:pt x="121920" y="114300"/>
                </a:cubicBezTo>
                <a:cubicBezTo>
                  <a:pt x="121920" y="101679"/>
                  <a:pt x="111681" y="91440"/>
                  <a:pt x="99060" y="91440"/>
                </a:cubicBezTo>
                <a:lnTo>
                  <a:pt x="99060" y="91440"/>
                </a:lnTo>
                <a:cubicBezTo>
                  <a:pt x="86439" y="91440"/>
                  <a:pt x="76200" y="101679"/>
                  <a:pt x="76200" y="114300"/>
                </a:cubicBezTo>
                <a:cubicBezTo>
                  <a:pt x="76200" y="126921"/>
                  <a:pt x="86439" y="137160"/>
                  <a:pt x="99060" y="137160"/>
                </a:cubicBezTo>
                <a:lnTo>
                  <a:pt x="99060" y="137160"/>
                </a:lnTo>
                <a:close/>
                <a:moveTo>
                  <a:pt x="205740" y="137160"/>
                </a:moveTo>
                <a:cubicBezTo>
                  <a:pt x="218361" y="137160"/>
                  <a:pt x="228600" y="126921"/>
                  <a:pt x="228600" y="114300"/>
                </a:cubicBezTo>
                <a:cubicBezTo>
                  <a:pt x="228600" y="101679"/>
                  <a:pt x="218361" y="91440"/>
                  <a:pt x="205740" y="91440"/>
                </a:cubicBezTo>
                <a:lnTo>
                  <a:pt x="205740" y="91440"/>
                </a:lnTo>
                <a:cubicBezTo>
                  <a:pt x="193119" y="91440"/>
                  <a:pt x="182880" y="101679"/>
                  <a:pt x="182880" y="114300"/>
                </a:cubicBezTo>
                <a:cubicBezTo>
                  <a:pt x="182880" y="126921"/>
                  <a:pt x="193119" y="137160"/>
                  <a:pt x="205740" y="137160"/>
                </a:cubicBezTo>
                <a:lnTo>
                  <a:pt x="205740" y="137160"/>
                </a:lnTo>
                <a:close/>
                <a:moveTo>
                  <a:pt x="238658" y="182880"/>
                </a:moveTo>
                <a:lnTo>
                  <a:pt x="66142" y="182880"/>
                </a:lnTo>
                <a:cubicBezTo>
                  <a:pt x="79038" y="218770"/>
                  <a:pt x="112776" y="243973"/>
                  <a:pt x="152400" y="243973"/>
                </a:cubicBezTo>
                <a:cubicBezTo>
                  <a:pt x="192024" y="243973"/>
                  <a:pt x="225762" y="218770"/>
                  <a:pt x="238458" y="183518"/>
                </a:cubicBezTo>
                <a:lnTo>
                  <a:pt x="238658" y="18288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Freeform 12"/>
          <p:cNvSpPr/>
          <p:nvPr/>
        </p:nvSpPr>
        <p:spPr>
          <a:xfrm rot="0">
            <a:off x="1122283" y="3534910"/>
            <a:ext cx="372041" cy="372041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400" y="0"/>
                </a:moveTo>
                <a:cubicBezTo>
                  <a:pt x="68237" y="0"/>
                  <a:pt x="0" y="68237"/>
                  <a:pt x="0" y="152400"/>
                </a:cubicBezTo>
                <a:cubicBezTo>
                  <a:pt x="0" y="236563"/>
                  <a:pt x="68237" y="304800"/>
                  <a:pt x="152400" y="304800"/>
                </a:cubicBezTo>
                <a:cubicBezTo>
                  <a:pt x="236563" y="304800"/>
                  <a:pt x="304800" y="236563"/>
                  <a:pt x="304800" y="152400"/>
                </a:cubicBezTo>
                <a:cubicBezTo>
                  <a:pt x="304800" y="68237"/>
                  <a:pt x="236563" y="0"/>
                  <a:pt x="152400" y="0"/>
                </a:cubicBezTo>
                <a:close/>
                <a:moveTo>
                  <a:pt x="128778" y="222723"/>
                </a:moveTo>
                <a:lnTo>
                  <a:pt x="58655" y="152591"/>
                </a:lnTo>
                <a:lnTo>
                  <a:pt x="85592" y="125654"/>
                </a:lnTo>
                <a:lnTo>
                  <a:pt x="128768" y="168850"/>
                </a:lnTo>
                <a:lnTo>
                  <a:pt x="220370" y="77248"/>
                </a:lnTo>
                <a:lnTo>
                  <a:pt x="247307" y="104184"/>
                </a:lnTo>
                <a:lnTo>
                  <a:pt x="128778" y="22272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AutoShape 13"/>
          <p:cNvSpPr/>
          <p:nvPr/>
        </p:nvSpPr>
        <p:spPr>
          <a:xfrm rot="0">
            <a:off x="497036" y="5001091"/>
            <a:ext cx="853440" cy="8534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4" name="Freeform 14"/>
          <p:cNvSpPr/>
          <p:nvPr/>
        </p:nvSpPr>
        <p:spPr>
          <a:xfrm rot="0">
            <a:off x="708042" y="5212097"/>
            <a:ext cx="431428" cy="431428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202444" y="162220"/>
                </a:moveTo>
                <a:cubicBezTo>
                  <a:pt x="202444" y="162220"/>
                  <a:pt x="207007" y="100841"/>
                  <a:pt x="150752" y="93840"/>
                </a:cubicBezTo>
                <a:cubicBezTo>
                  <a:pt x="102537" y="88916"/>
                  <a:pt x="87868" y="133721"/>
                  <a:pt x="87868" y="133721"/>
                </a:cubicBezTo>
                <a:cubicBezTo>
                  <a:pt x="87868" y="133721"/>
                  <a:pt x="73352" y="119758"/>
                  <a:pt x="53654" y="131159"/>
                </a:cubicBezTo>
                <a:cubicBezTo>
                  <a:pt x="36024" y="142046"/>
                  <a:pt x="39148" y="161963"/>
                  <a:pt x="39148" y="161963"/>
                </a:cubicBezTo>
                <a:cubicBezTo>
                  <a:pt x="39148" y="161963"/>
                  <a:pt x="0" y="169574"/>
                  <a:pt x="0" y="209493"/>
                </a:cubicBezTo>
                <a:cubicBezTo>
                  <a:pt x="1076" y="250031"/>
                  <a:pt x="42262" y="249022"/>
                  <a:pt x="42262" y="249022"/>
                </a:cubicBezTo>
                <a:lnTo>
                  <a:pt x="196310" y="249431"/>
                </a:lnTo>
                <a:cubicBezTo>
                  <a:pt x="196310" y="249431"/>
                  <a:pt x="233182" y="249860"/>
                  <a:pt x="239897" y="211874"/>
                </a:cubicBezTo>
                <a:cubicBezTo>
                  <a:pt x="242497" y="170412"/>
                  <a:pt x="202444" y="162220"/>
                  <a:pt x="202444" y="162220"/>
                </a:cubicBezTo>
                <a:close/>
              </a:path>
              <a:path h="304800" w="304800">
                <a:moveTo>
                  <a:pt x="297694" y="124130"/>
                </a:moveTo>
                <a:cubicBezTo>
                  <a:pt x="297694" y="124130"/>
                  <a:pt x="302257" y="62751"/>
                  <a:pt x="246012" y="55740"/>
                </a:cubicBezTo>
                <a:cubicBezTo>
                  <a:pt x="197796" y="50816"/>
                  <a:pt x="182537" y="96212"/>
                  <a:pt x="182537" y="96212"/>
                </a:cubicBezTo>
                <a:cubicBezTo>
                  <a:pt x="182537" y="96212"/>
                  <a:pt x="210626" y="112509"/>
                  <a:pt x="211817" y="156562"/>
                </a:cubicBezTo>
                <a:cubicBezTo>
                  <a:pt x="229676" y="161925"/>
                  <a:pt x="248707" y="176660"/>
                  <a:pt x="249307" y="211188"/>
                </a:cubicBezTo>
                <a:lnTo>
                  <a:pt x="291560" y="211341"/>
                </a:lnTo>
                <a:cubicBezTo>
                  <a:pt x="291560" y="211341"/>
                  <a:pt x="328432" y="211769"/>
                  <a:pt x="335147" y="173784"/>
                </a:cubicBezTo>
                <a:cubicBezTo>
                  <a:pt x="337747" y="132302"/>
                  <a:pt x="297694" y="124130"/>
                  <a:pt x="297694" y="124130"/>
                </a:cubicBez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1471170" y="1404968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自动化立体仓库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1850961" y="3391770"/>
            <a:ext cx="4622850" cy="997221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搭载激光导航或SLAM技术的AGV小车，与WMS任务指令无缝对接，完成跨区域物料转运，减少人工搬运耗时50%以上。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eyJfdGVtcGxhdGVEYXRhIjp7ImNvbnRlbnRUeXBlIjoiJGl0ZW0yX2MiLCJsaW5lQ291bnQiOiIzIiwid29yZENvdW50IjoiMjIifSwidGFnIjoiJGl0ZW0yX2MifQ==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1850961" y="3052871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AGV搬运系统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1471170" y="4752985"/>
            <a:ext cx="3533775" cy="409575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rmAutofit/>
          </a:bodyPr>
          <a:lstStyle/>
          <a:p>
            <a:pPr>
              <a:lnSpc>
                <a:spcPct val="77000"/>
              </a:lnSpc>
            </a:pPr>
            <a:r>
              <a:rPr b="1" lang="en-US" sz="2025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智能分拣设备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自动化存储设备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HquWKqOWMluWtmOWCqOiuvuWkh1xuIyMjIOiHquWKqOWMlueri+S9k+S7k+W6k1xu6YeH55So5aCG5Z6b5py6K+Wbm+WQkeepv+airei9pue7hOWQiO+8jOWunueOsOaJmOebmC/mlpnnrrHnmoToh6rliqjlrZjlj5bvvIzlrZjlgqjlr4bluqbmj5DljYcz5YCN5Lul5LiK77yM5pSv5oyBMjTlsI/ml7bml6DkurrljJbkvZzkuJrjgIJcbiMjIyBBR1bmkKzov5Dns7vnu59cbuaQrei9vea/gOWFieWvvOiIquaIllNMQU3mioDmnK/nmoRBR1blsI/ovabvvIzkuI5XTVPku7vliqHmjIfku6Tml6DnvJ3lr7nmjqXvvIzlrozmiJDot6jljLrln5/nianmlpnovazov5DvvIzlh4/lsJHkurrlt6XmkKzov5DogJfml7Y1MCXku6XkuIrjgIJcbiMjIyDmmbrog73liIbmi6Porr7lpIdcbue7k+WQiOWKqOaAgeensOmHjeS4juinhuinieivhuWIq+aKgOacr+eahOS6pOWPieW4puWIhuaLo+acuu+8jOWkhOeQhuaViOeOh+WPr+i+vjgwMDDku7Yv5bCP5pe277yM5YeG56Gu546HOTkuOTkl77yM6YCC5bqU5b+r6YCS44CB6Zu25ZSu6KGM5Lia55qE6auY6aKR5Ye65bqT6ZyA5rGC44CCIiwidHBsaWQiOiIxMDI0ODUiLCJ0cGxOYW1lIjoibGlzdFN1bTNfMjMxMTMwNCIsImVkaXRlZCI6ImZhbHNlIn0=</bd:templateData>
    </p:ext>
  </p:extLst>
</p:sld>
</file>

<file path=ppt/slides/slide_acdb1e5f-6762-4584-8949-c79a3999aba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GjMdbW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行业应用案例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tb8CpB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eyJtZCI6IiMjIOihjOS4muW6lOeUqOahiOS+iyIsInRwbGlkIjoiMTAyNDg1IiwidHBsTmFtZSI6ImgydGl0bGVfY2h1YW5na2V0aWUwMDIiLCJlZGl0ZWQiOiJmYWxzZSJ9</bd:templateData>
    </p:ext>
  </p:extLst>
</p:sld>
</file>

<file path=ppt/slides/slide_b8a7aa56-cc67-4e8e-8368-e9b6c4d4eb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pOQHQc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534909" y="1907184"/>
            <a:ext cx="3648075" cy="477752"/>
          </a:xfrm>
          <a:prstGeom prst="rect">
            <a:avLst/>
          </a:prstGeom>
          <a:noFill/>
          <a:ln/>
        </p:spPr>
        <p:txBody>
          <a:bodyPr anchor="b" anchorCtr="0" bIns="45720" lIns="91440" rIns="91440" rtlCol="0" tIns="45720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RFID批量识别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8034635" y="1906360"/>
            <a:ext cx="3648075" cy="479402"/>
          </a:xfrm>
          <a:prstGeom prst="rect">
            <a:avLst/>
          </a:prstGeom>
          <a:noFill/>
          <a:ln/>
        </p:spPr>
        <p:txBody>
          <a:bodyPr anchor="b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环境传感器网络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534909" y="2402205"/>
            <a:ext cx="3648075" cy="143773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采用超高频RFID技术实现非接触式群读，单次可识别数百个标签，解决传统条码需逐件扫描的痛点，适用于高速出入库场景。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eyJfdGVtcGxhdGVEYXRhIjp7ImNvbnRlbnRUeXBlIjoiJGl0ZW0xX2MiLCJsaW5lQ291bnQiOiI0Iiwid29yZENvdW50IjoiMTYifSwidGFnIjoiJGl0ZW0xX2MifQ==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8034635" y="2402205"/>
            <a:ext cx="3648075" cy="1389800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部署温湿度、震动、光照等传感器，实时监控仓储环境参数，联动空调/除湿设备自动调节，保障特殊商品（如药品、食品）的存储安全。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eyJfdGVtcGxhdGVEYXRhIjp7ImNvbnRlbnRUeXBlIjoiJGl0ZW0yX2MiLCJsaW5lQ291bnQiOiI0Iiwid29yZENvdW50IjoiMTYifSwidGFnIjoiJGl0ZW0yX2MifQ==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物联网（RFID/传感器）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eyJfdGVtcGxhdGVEYXRhIjp7ImNvbnRlbnRUeXBlIjoiJHRpdGxlIiwibGluZUNvdW50IjoiMSIsIndvcmRDb3VudCI6IjI3In0sInRhZyI6IiR0aXRsZSJ9</bd:templateData>
          </p:ext>
        </p:extLst>
      </p:sp>
      <p:sp>
        <p:nvSpPr>
          <p:cNvPr id="7" name="AutoShape 7"/>
          <p:cNvSpPr/>
          <p:nvPr/>
        </p:nvSpPr>
        <p:spPr>
          <a:xfrm rot="0">
            <a:off x="534909" y="4442458"/>
            <a:ext cx="3648075" cy="477752"/>
          </a:xfrm>
          <a:prstGeom prst="rect">
            <a:avLst/>
          </a:prstGeom>
          <a:noFill/>
          <a:ln/>
        </p:spPr>
        <p:txBody>
          <a:bodyPr anchor="b" anchorCtr="0" bIns="45720" lIns="91440" rIns="91440" rtlCol="0" tIns="45720" vert="horz" wrap="square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资产定位追踪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534909" y="4964243"/>
            <a:ext cx="3648075" cy="1422216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通过RFID+蓝牙信标融合定位，精确获取货物三维坐标，结合电子围栏技术实现越界报警，防止贵重资产错放或丢失。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eyJfdGVtcGxhdGVEYXRhIjp7ImNvbnRlbnRUeXBlIjoiJGl0ZW0zX2MiLCJsaW5lQ291bnQiOiI0Iiwid29yZENvdW50IjoiMTYifSwidGFnIjoiJGl0ZW0zX2MifQ==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8034635" y="4441633"/>
            <a:ext cx="3648075" cy="479402"/>
          </a:xfrm>
          <a:prstGeom prst="rect">
            <a:avLst/>
          </a:prstGeom>
          <a:noFill/>
          <a:ln/>
        </p:spPr>
        <p:txBody>
          <a:bodyPr anchor="b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设备状态监测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8034635" y="4964243"/>
            <a:ext cx="3648075" cy="1422216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在叉车、输送带等设备嵌入振动传感器，采集运行数据并预测性维护，降低设备突发故障导致的作业中断风险。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eyJfdGVtcGxhdGVEYXRhIjp7ImNvbnRlbnRUeXBlIjoiJGl0ZW00X2MiLCJsaW5lQ291bnQiOiI0Iiwid29yZENvdW50IjoiMTYifSwidGFnIjoiJGl0ZW00X2MifQ==</bd:templateData>
          </p:ext>
        </p:extLst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NEr8N3"/>
          <a:srcRect l="5566" r="5566"/>
          <a:stretch>
            <a:fillRect/>
          </a:stretch>
        </p:blipFill>
        <p:spPr>
          <a:xfrm rot="0">
            <a:off x="4471754" y="1456718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eyJfdGVtcGxhdGVEYXRhIjp7ImNvbnRlbnRUeXBlIjoiJGltZzAiLCJuZWVkUmVwbGFjZSI6dHJ1ZSwidHlwZSI6ImltYWdlIn0sInRhZyI6IiRpbWcwIn0=</bd:templateData>
          </p:ext>
        </p:extLst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EXdWQ3"/>
          <a:srcRect l="5566" r="5566"/>
          <a:stretch>
            <a:fillRect/>
          </a:stretch>
        </p:blipFill>
        <p:spPr>
          <a:xfrm rot="0">
            <a:off x="4471754" y="4003244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eyJfdGVtcGxhdGVEYXRhIjp7ImNvbnRlbnRUeXBlIjoiJGltZzEiLCJuZWVkUmVwbGFjZSI6dHJ1ZSwidHlwZSI6ImltYWdlIn0sInRhZyI6IiRpbWcxIn0=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JqeiBlOe9ke+8iFJGSUQv5Lyg5oSf5Zmo77yJXG4jIyMgUkZJROaJuemHj+ivhuWIq1xu6YeH55So6LaF6auY6aKRUkZJROaKgOacr+WunueOsOmdnuaOpeinpuW8j+e+pOivu++8jOWNleasoeWPr+ivhuWIq+aVsOeZvuS4quagh+etvu+8jOino+WGs+S8oOe7n+adoeeggemcgOmAkOS7tuaJq+aPj+eahOeXm+eCue+8jOmAgueUqOS6jumrmOmAn+WHuuWFpeW6k+WcuuaZr+OAglxuIyMjIOeOr+Wig+S8oOaEn+WZqOe9kee7nFxu6YOo572y5rip5rm/5bqm44CB6ZyH5Yqo44CB5YWJ54Wn562J5Lyg5oSf5Zmo77yM5a6e5pe255uR5o6n5LuT5YKo546v5aKD5Y+C5pWw77yM6IGU5Yqo56m66LCDL+mZpOa5v+iuvuWkh+iHquWKqOiwg+iKgu+8jOS/nemanOeJueauiuWVhuWTge+8iOWmguiNr+WTgeOAgemjn+WTge+8ieeahOWtmOWCqOWuieWFqOOAglxuIyMjIOi1hOS6p+WumuS9jei/vei4qlxu6YCa6L+HUkZJRCvok53niZnkv6HmoIfono3lkIjlrprkvY3vvIznsr7noa7ojrflj5botKfniankuInnu7TlnZDmoIfvvIznu5PlkIjnlLXlrZDlm7TmoI/mioDmnK/lrp7njrDotornlYzmiqXorabvvIzpmLLmraLotLXph43otYTkuqfplJnmlL7miJbkuKLlpLHjgIJcbiMjIyDorr7lpIfnirbmgIHnm5HmtYtcbuWcqOWPiei9puOAgei+k+mAgeW4puetieiuvuWkh+W1jOWFpeaMr+WKqOS8oOaEn+WZqO+8jOmHh+mbhui/kOihjOaVsOaNruW5tumihOa1i+aAp+e7tOaKpO+8jOmZjeS9juiuvuWkh+eqgeWPkeaVhemanOWvvOiHtOeahOS9nOS4muS4reaWremjjumZqeOAgiIsInRwbGlkIjoiMTAyNDg1IiwidHBsTmFtZSI6Imxpc3Q0X3VuaTMyIiwiZWRpdGVkIjoiZmFsc2UifQ==</bd:templateData>
    </p:ext>
  </p:extLst>
</p:sld>
</file>

<file path=ppt/slides/slide_b55008cc-9b17-446d-adf6-cc1e3a1ce6ba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VUr4PE">
            <a:alphaModFix amt="100000"/>
          </a:blip>
          <a:srcRect/>
          <a:stretch>
            <a:fillRect b="-201" l="0" r="0" t="-201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智能调度中台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614667" y="2615932"/>
            <a:ext cx="3473061" cy="3671276"/>
          </a:xfrm>
          <a:prstGeom prst="roundRect">
            <a:avLst>
              <a:gd fmla="val 7214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831204" y="4300661"/>
            <a:ext cx="3039989" cy="165636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建立全局库存视图和智能调拨模型，支持跨仓库库存共享与动态调配，可将区域仓间补货响应时间缩短至2小时内，降低安全库存量30%。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eyJfdGVtcGxhdGVEYXRhIjp7ImNvbnRlbnRUeXBlIjoiJGl0ZW0xX2MiLCJsaW5lQ291bnQiOiI1Iiwid29yZENvdW50IjoiMTMifSwidGFnIjoiJGl0ZW0xX2MifQ==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831204" y="3584541"/>
            <a:ext cx="3039989" cy="612447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多仓协同引擎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eyJfdGVtcGxhdGVEYXRhIjp7ImNvbnRlbnRUeXBlIjoiJGl0ZW0xX3RpdGxlIiwibGluZUNvdW50IjoiMSIsIndvcmRDb3VudCI6IjgifSwidGFnIjoiJGl0ZW0xX3RpdGxlIn0=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4359469" y="2615932"/>
            <a:ext cx="3473061" cy="3671276"/>
          </a:xfrm>
          <a:prstGeom prst="roundRect">
            <a:avLst>
              <a:gd fmla="val 7214" name="adj"/>
            </a:avLst>
          </a:prstGeom>
          <a:solidFill>
            <a:schemeClr val="lt2">
              <a:alpha val="8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4576006" y="4300661"/>
            <a:ext cx="3039989" cy="165636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基于深度学习的波次合并技术，将拣货路径缩短40%以上，结合库位热度分析实现高频物料前置存储，使单订单平均处理时效提升45%。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eyJfdGVtcGxhdGVEYXRhIjp7ImNvbnRlbnRUeXBlIjoiJGl0ZW0yX2MiLCJsaW5lQ291bnQiOiI1Iiwid29yZENvdW50IjoiMTMifSwidGFnIjoiJGl0ZW0yX2MifQ==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576006" y="3584541"/>
            <a:ext cx="3039989" cy="612447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任务优化算法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eyJfdGVtcGxhdGVEYXRhIjp7ImNvbnRlbnRUeXBlIjoiJGl0ZW0yX3RpdGxlIiwibGluZUNvdW50IjoiMSIsIndvcmRDb3VudCI6IjgifSwidGFnIjoiJGl0ZW0yX3RpdGxlIn0=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8104272" y="2615932"/>
            <a:ext cx="3473061" cy="3671276"/>
          </a:xfrm>
          <a:prstGeom prst="roundRect">
            <a:avLst>
              <a:gd fmla="val 7214" name="adj"/>
            </a:avLst>
          </a:prstGeom>
          <a:solidFill>
            <a:schemeClr val="lt2">
              <a:alpha val="79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8320808" y="4300661"/>
            <a:ext cx="3039989" cy="165636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通过实时监控设备状态和作业负荷，自动平衡AGV车队、分拣线等资源分配，在玻璃工厂等场景实现设备利用率达85%以上的高效运营。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eyJfdGVtcGxhdGVEYXRhIjp7ImNvbnRlbnRUeXBlIjoiJGl0ZW0zX2MiLCJsaW5lQ291bnQiOiI1Iiwid29yZENvdW50IjoiMTMifSwidGFnIjoiJGl0ZW0zX2MifQ==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8320808" y="3584541"/>
            <a:ext cx="3039989" cy="612447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b="1"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资源动态调度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eyJfdGVtcGxhdGVEYXRhIjp7ImNvbnRlbnRUeXBlIjoiJGl0ZW0zX3RpdGxlIiwibGluZUNvdW50IjoiMSIsIndvcmRDb3VudCI6IjgifSwidGFnIjoiJGl0ZW0zX3RpdGxlIn0=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qluR3v"/>
          <a:srcRect/>
          <a:stretch>
            <a:fillRect/>
          </a:stretch>
        </p:blipFill>
        <p:spPr>
          <a:xfrm rot="0">
            <a:off x="8834133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FBpT4s"/>
          <a:srcRect l="21292" r="21292"/>
          <a:stretch>
            <a:fillRect/>
          </a:stretch>
        </p:blipFill>
        <p:spPr>
          <a:xfrm rot="0">
            <a:off x="5123204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fnUWk"/>
          <a:srcRect l="16675" r="16675"/>
          <a:stretch>
            <a:fillRect/>
          </a:stretch>
        </p:blipFill>
        <p:spPr>
          <a:xfrm rot="0">
            <a:off x="1412275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ZuuiDveiwg+W6puS4reWPsFxuIyMjIOWkmuS7k+WNj+WQjOW8leaTjlxu5bu656uL5YWo5bGA5bqT5a2Y6KeG5Zu+5ZKM5pm66IO96LCD5ouo5qih5Z6L77yM5pSv5oyB6Leo5LuT5bqT5bqT5a2Y5YWx5Lqr5LiO5Yqo5oCB6LCD6YWN77yM5Y+v5bCG5Yy65Z+f5LuT6Ze06KGl6LSn5ZON5bqU5pe26Ze057yp55+t6IezMuWwj+aXtuWGhe+8jOmZjeS9juWuieWFqOW6k+WtmOmHjzMwJeOAglxuIyMjIOS7u+WKoeS8mOWMlueul+azlVxu5Z+65LqO5rex5bqm5a2m5Lmg55qE5rOi5qyh5ZCI5bm25oqA5pyv77yM5bCG5ouj6LSn6Lev5b6E57yp55+tNDAl5Lul5LiK77yM57uT5ZCI5bqT5L2N54Ot5bqm5YiG5p6Q5a6e546w6auY6aKR54mp5paZ5YmN572u5a2Y5YKo77yM5L2/5Y2V6K6i5Y2V5bmz5Z2H5aSE55CG5pe25pWI5o+Q5Y2HNDUl44CCXG4jIyMg6LWE5rqQ5Yqo5oCB6LCD5bqmXG7pgJrov4flrp7ml7bnm5Hmjqforr7lpIfnirbmgIHlkozkvZzkuJrotJ/ojbfvvIzoh6rliqjlubPooaFBR1bovabpmJ/jgIHliIbmi6Pnur/nrYnotYTmupDliIbphY3vvIzlnKjnjrvnkoPlt6XljoLnrYnlnLrmma/lrp7njrDorr7lpIfliKnnlKjnjofovr44NSXku6XkuIrnmoTpq5jmlYjov5DokKXjgIIiLCJ0cGxpZCI6IjEwMjQ4NSIsInRwbE5hbWUiOiJsaXN0M19JbWcxNCIsImVkaXRlZCI6ImZhbHNlIn0=</bd:templateData>
    </p:ext>
  </p:extLst>
</p:sld>
</file>

<file path=ppt/slides/slide_ba3f7627-1507-4bad-b189-564a36252b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xNPvOk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b="b" l="l" r="r" t="t"/>
            <a:pathLst>
              <a:path h="21600" w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qvhJ1Y"/>
          <a:srcRect l="12500" r="12500"/>
          <a:stretch>
            <a:fillRect/>
          </a:stretch>
        </p:blipFill>
        <p:spPr>
          <a:xfrm rot="0">
            <a:off x="702027" y="2155390"/>
            <a:ext cx="3472815" cy="3472815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4" name="TextBox 4"/>
          <p:cNvSpPr txBox="1"/>
          <p:nvPr/>
        </p:nvSpPr>
        <p:spPr>
          <a:xfrm rot="0">
            <a:off x="6097260" y="3180638"/>
            <a:ext cx="5610225" cy="74986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应用5.5米层高货架搭配前移式叉车，存储密度提升3倍，48V/150Ah电池支持24小时不间断作业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eyJfdGVtcGxhdGVEYXRhIjp7ImNvbnRlbnRUeXBlIjoiJGl0ZW0yX2MiLCJsaW5lQ291bnQiOiIyIiwid29yZENvdW50IjoiMjcifSwidGFnIjoiJGl0ZW0yX2MifQ==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6097260" y="2722499"/>
            <a:ext cx="3280773" cy="560841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高位密集存储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eyJfdGVtcGxhdGVEYXRhIjp7ImNvbnRlbnRUeXBlIjoiJGl0ZW0yX3RpdGxlIiwibGluZUNvdW50IjoiMSIsIndvcmRDb3VudCI6IjEwIn0sInRhZyI6IiRpdGVtMl90aXRsZSJ9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 rot="0">
            <a:off x="6097260" y="4437395"/>
            <a:ext cx="5610225" cy="722772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集成OCR识别与语音提示，支持中英日韩四国标签自动识别，分拣准确率提升至99.97%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eyJfdGVtcGxhdGVEYXRhIjp7ImNvbnRlbnRUeXBlIjoiJGl0ZW0zX2MiLCJsaW5lQ291bnQiOiIyIiwid29yZENvdW50IjoiMjcifSwidGFnIjoiJGl0ZW0zX2MifQ==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6097260" y="3979255"/>
            <a:ext cx="3280773" cy="560841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多语言分拣系统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eyJfdGVtcGxhdGVEYXRhIjp7ImNvbnRlbnRUeXBlIjoiJGl0ZW0zX3RpdGxlIiwibGluZUNvdW50IjoiMSIsIndvcmRDb3VudCI6IjEwIn0sInRhZyI6IiRpdGVtM190aXRsZSJ9</bd:templateData>
          </p:ext>
        </p:extLst>
      </p:sp>
      <p:sp>
        <p:nvSpPr>
          <p:cNvPr id="8" name="AutoShape 8"/>
          <p:cNvSpPr/>
          <p:nvPr/>
        </p:nvSpPr>
        <p:spPr>
          <a:xfrm rot="0"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0"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1" name="AutoShape 11"/>
          <p:cNvSpPr/>
          <p:nvPr/>
        </p:nvSpPr>
        <p:spPr>
          <a:xfrm rot="0"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470237" y="1782217"/>
            <a:ext cx="763905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5232236" y="3008561"/>
            <a:ext cx="763905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5248581" y="4265317"/>
            <a:ext cx="744855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4470237" y="5513381"/>
            <a:ext cx="763905" cy="481965"/>
          </a:xfrm>
          <a:prstGeom prst="rect">
            <a:avLst/>
          </a:prstGeom>
          <a:ln/>
        </p:spPr>
        <p:txBody>
          <a:bodyPr anchor="ctr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eyJfdGVtcGxhdGVEYXRhIjp7ImxpbmVDb3VudCI6IjEiLCJ3b3JkQ291bnQiOiIxIn0sInRhZyI6Im5vRWRpdCJ9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5418969" y="1989857"/>
            <a:ext cx="5902509" cy="732641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采用DALI MSensor传感器实现按需照明，作业区照度动态调节至100%，空闲区降至10%，综合节能率达60%以上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eyJfdGVtcGxhdGVEYXRhIjp7ImNvbnRlbnRUeXBlIjoiJGl0ZW0xX2MiLCJsaW5lQ291bnQiOiIyIiwid29yZENvdW50IjoiMjkifSwidGFnIjoiJGl0ZW0xX2MifQ==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5418969" y="1531718"/>
            <a:ext cx="3280773" cy="560841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智能灯光控制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eyJfdGVtcGxhdGVEYXRhIjp7ImNvbnRlbnRUeXBlIjoiJGl0ZW0xX3RpdGxlIiwibGluZUNvdW50IjoiMSIsIndvcmRDb3VudCI6IjEwIn0sInRhZyI6IiRpdGVtMV90aXRsZSJ9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5387222" y="5699240"/>
            <a:ext cx="5610225" cy="74986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通过IoT传感器集群监控温湿度，药品仓实现2-8℃精准控温，异常情况30秒内触发报警机制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eyJfdGVtcGxhdGVEYXRhIjp7ImNvbnRlbnRUeXBlIjoiJGl0ZW00X2MiLCJsaW5lQ291bnQiOiIyIiwid29yZENvdW50IjoiMjcifSwidGFnIjoiJGl0ZW00X2MifQ==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5387222" y="5241100"/>
            <a:ext cx="3280773" cy="560841"/>
          </a:xfrm>
          <a:prstGeom prst="rect">
            <a:avLst/>
          </a:prstGeom>
          <a:noFill/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b="1" lang="en-US" sz="21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温控云仓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eyJfdGVtcGxhdGVEYXRhIjp7ImNvbnRlbnRUeXBlIjoiJGl0ZW00X3RpdGxlIiwibGluZUNvdW50IjoiMSIsIndvcmRDb3VudCI6IjEwIn0sInRhZyI6IiRpdGVtNF90aXRsZSJ9</bd:templateData>
          </p:ext>
        </p:extLst>
      </p:sp>
      <p:sp>
        <p:nvSpPr>
          <p:cNvPr id="20" name="TextBox 20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跨境物流中心案例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i3qOWig+eJqea1geS4reW/g+ahiOS+i1xuIyMjIOaZuuiDveeBr+WFieaOp+WItlxu6YeH55SoREFMSSBNU2Vuc29y5Lyg5oSf5Zmo5a6e546w5oyJ6ZyA54Wn5piO77yM5L2c5Lia5Yy654Wn5bqm5Yqo5oCB6LCD6IqC6IezMTAwJe+8jOepuumXsuWMuumZjeiHszEwJe+8jOe7vOWQiOiKguiDveeOh+i+vjYwJeS7peS4ilxuIyMjIOmrmOS9jeWvhumbhuWtmOWCqFxu5bqU55SoNS4157Gz5bGC6auY6LSn5p625pCt6YWN5YmN56e75byP5Y+J6L2m77yM5a2Y5YKo5a+G5bqm5o+Q5Y2HM+WAje+8jDQ4Vi8xNTBBaOeUteaxoOaUr+aMgTI05bCP5pe25LiN6Ze05pat5L2c5LiaXG4jIyMg5aSa6K+t6KiA5YiG5ouj57O757ufXG7pm4bmiJBPQ1Lor4bliKvkuI7or63pn7Pmj5DnpLrvvIzmlK/mjIHkuK3oi7Hml6Xpn6nlm5vlm73moIfnrb7oh6rliqjor4bliKvvvIzliIbmi6Plh4bnoa7njofmj5DljYfoh7M5OS45NyVcbiMjIyDmuKnmjqfkupHku5NcbumAmui/h0lvVOS8oOaEn+WZqOmbhue+pOebkeaOp+a4qea5v+W6pu+8jOiNr+WTgeS7k+WunueOsDItOOKEg+eyvuWHhuaOp+a4qe+8jOW8guW4uOaDheWGtTMw56eS5YaF6Kem5Y+R5oql6K2m5py65Yi2IiwidHBsaWQiOiIxMDI0ODUiLCJ0cGxOYW1lIjoibGlzdDRfSW1nV0xMMjQwMzI4MDEiLCJlZGl0ZWQiOiJmYWxzZSJ9</bd:templateData>
    </p:ext>
  </p:extLst>
</p:sld>
</file>

<file path=ppt/slides/slide_c7645c59-c397-421b-a92b-b9ed5e6ded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u6QRVx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0">
            <a:off x="2589139" y="4907596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965148" y="3145225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2493889" y="1358958"/>
            <a:ext cx="8609341" cy="1478267"/>
          </a:xfrm>
          <a:prstGeom prst="roundRect">
            <a:avLst>
              <a:gd fmla="val 16667" name="adj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3283333" y="1796843"/>
            <a:ext cx="7497178" cy="97285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以电鸿物联操作系统为核心底座，深度融合AI智能算法，实现仓储安全、数据互联、运营管理全方位升级，仓储运营管理效率较常规自动化立库整体提升50%。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eyJfdGVtcGxhdGVEYXRhIjp7ImNvbnRlbnRUeXBlIjoiJGl0ZW0xX2MiLCJsaW5lQ291bnQiOiIzIiwid29yZENvdW50IjoiMzcifSwidGFnIjoiJGl0ZW0xX2MifQ==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YbysFM"/>
          <a:srcRect b="0" l="11845" r="11845" t="0"/>
          <a:stretch>
            <a:fillRect/>
          </a:stretch>
        </p:blipFill>
        <p:spPr>
          <a:xfrm rot="0">
            <a:off x="1113196" y="1262384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r3xFjD"/>
          <a:srcRect l="17128" r="17128"/>
          <a:stretch>
            <a:fillRect/>
          </a:stretch>
        </p:blipFill>
        <p:spPr>
          <a:xfrm rot="0">
            <a:off x="9176894" y="3043110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eyJfdGVtcGxhdGVEYXRhIjp7ImNvbnRlbnRUeXBlIjoiJGltZzEifSwidGFnIjoiJGltZzEifQ==</bd:templateData>
          </p:ext>
        </p:extLst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QSHXv4"/>
          <a:srcRect b="0" l="11789" r="11789" t="0"/>
          <a:stretch>
            <a:fillRect/>
          </a:stretch>
        </p:blipFill>
        <p:spPr>
          <a:xfrm rot="0">
            <a:off x="1113196" y="4824531"/>
            <a:ext cx="1926336" cy="1682496"/>
          </a:xfrm>
          <a:prstGeom prst="hexagon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eyJfdGVtcGxhdGVEYXRhIjp7ImNvbnRlbnRUeXBlIjoiJGltZzIifSwidGFnIjoiJGltZzIifQ==</bd:templateData>
          </p:ext>
        </p:extLst>
      </p:pic>
      <p:sp>
        <p:nvSpPr>
          <p:cNvPr id="9" name="TextBox 9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电力行业智慧仓库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3273808" y="1404023"/>
            <a:ext cx="6148089" cy="449970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电鸿物联技术应用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eyJfdGVtcGxhdGVEYXRhIjp7ImNvbnRlbnRUeXBlIjoiJGl0ZW0xX3RpdGxlIiwibGluZUNvdW50IjoiMSIsIndvcmRDb3VudCI6IjIyIn0sInRhZyI6IiRpdGVtMV90aXRsZSJ9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1530470" y="3566057"/>
            <a:ext cx="7497178" cy="97285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部署60路高清监测摄像头，实现库区全域覆盖监测，对未佩戴安全帽、违规吸烟等四类风险自动预警，完成从人工巡检到全域智防的安防体系升级。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eyJfdGVtcGxhdGVEYXRhIjp7ImNvbnRlbnRUeXBlIjoiJGl0ZW0yX2MiLCJsaW5lQ291bnQiOiIzIiwid29yZENvdW50IjoiMzcifSwidGFnIjoiJGl0ZW0yX2MifQ==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1520945" y="3173238"/>
            <a:ext cx="6148089" cy="449970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安全防护体系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eyJfdGVtcGxhdGVEYXRhIjp7ImNvbnRlbnRUeXBlIjoiJGl0ZW0yX3RpdGxlIiwibGluZUNvdW50IjoiMSIsIndvcmRDb3VudCI6IjIyIn0sInRhZyI6IiRpdGVtMl90aXRsZSJ9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3325984" y="5352046"/>
            <a:ext cx="7497178" cy="972854"/>
          </a:xfrm>
          <a:prstGeom prst="rect">
            <a:avLst/>
          </a:prstGeom>
          <a:ln/>
        </p:spPr>
        <p:txBody>
          <a:bodyPr anchor="t" anchorCtr="0" bIns="57150" lIns="114300" rIns="114300" rtlCol="0" tIns="57150" vert="horz"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统一接入105个物联网终端设备，通过电鸿摄像头、电鸿网关等设备搭载AI算法，将设备数据传输延迟压缩至4秒以内，打破数据壁垒，实现仓储数据实时互通。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eyJfdGVtcGxhdGVEYXRhIjp7ImNvbnRlbnRUeXBlIjoiJGl0ZW0zX2MiLCJsaW5lQ291bnQiOiIzIiwid29yZENvdW50IjoiMzcifSwidGFnIjoiJGl0ZW0zX2MifQ==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3316459" y="4959226"/>
            <a:ext cx="6148089" cy="449970"/>
          </a:xfrm>
          <a:prstGeom prst="rect">
            <a:avLst/>
          </a:prstGeom>
          <a:ln/>
        </p:spPr>
        <p:txBody>
          <a:bodyPr anchor="ctr" anchorCtr="0" bIns="57150" lIns="114300" rIns="114300" rtlCol="0" tIns="57150" vert="horz" wrap="square">
            <a:noAutofit/>
          </a:bodyPr>
          <a:lstStyle/>
          <a:p>
            <a:pPr>
              <a:lnSpc>
                <a:spcPct val="77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物联互通平台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eyJfdGVtcGxhdGVEYXRhIjp7ImNvbnRlbnRUeXBlIjoiJGl0ZW0zX3RpdGxlIiwibGluZUNvdW50IjoiMSIsIndvcmRDb3VudCI6IjIyIn0sInRhZyI6IiRpdGVtM190aXRsZSJ9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eUteWKm+ihjOS4muaZuuaFp+S7k+W6k1xuIyMjIOeUtem4v+eJqeiBlOaKgOacr+W6lOeUqFxu5Lul55S16bi/54mp6IGU5pON5L2c57O757uf5Li65qC45b+D5bqV5bqn77yM5rex5bqm6J6N5ZCIQUnmmbrog73nrpfms5XvvIzlrp7njrDku5PlgqjlronlhajjgIHmlbDmja7kupLogZTjgIHov5DokKXnrqHnkIblhajmlrnkvY3ljYfnuqfvvIzku5Plgqjov5DokKXnrqHnkIbmlYjnjofovoPluLjop4Toh6rliqjljJbnq4vlupPmlbTkvZPmj5DljYc1MCXjgIJcbiMjIyDlronlhajpmLLmiqTkvZPns7tcbumDqOe9sjYw6Lev6auY5riF55uR5rWL5pGE5YOP5aS077yM5a6e546w5bqT5Yy65YWo5Z+f6KaG55uW55uR5rWL77yM5a+55pyq5L2p5oi05a6J5YWo5bi944CB6L+d6KeE5ZC454Of562J5Zub57G76aOO6Zmp6Ieq5Yqo6aKE6K2m77yM5a6M5oiQ5LuO5Lq65bel5beh5qOA5Yiw5YWo5Z+f5pm66Ziy55qE5a6J6Ziy5L2T57O75Y2H57qn44CCXG4jIyMg54mp6IGU5LqS6YCa5bmz5Y+wXG7nu5/kuIDmjqXlhaUxMDXkuKrnianogZTnvZHnu4jnq6/orr7lpIfvvIzpgJrov4fnlLXpuL/mkYTlg4/lpLTjgIHnlLXpuL/nvZHlhbPnrYnorr7lpIfmkK3ovb1BSeeul+azle+8jOWwhuiuvuWkh+aVsOaNruS8oOi+k+W7tui/n+WOi+e8qeiHszTnp5Lku6XlhoXvvIzmiZPnoLTmlbDmja7lo4HlnpLvvIzlrp7njrDku5PlgqjmlbDmja7lrp7ml7bkupLpgJrjgIIiLCJ0cGxpZCI6IjEwMjQ4NSIsInRwbE5hbWUiOiJsaXN0M19pbWc1IiwiZWRpdGVkIjoiZmFsc2UifQ==</bd:templateData>
    </p:ext>
  </p:extLst>
</p:sld>
</file>

<file path=ppt/slides/slide_c62270dc-91c9-4f53-b538-05f5916a9c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Oqw7oT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作业效率优化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0"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AutoShape 5"/>
          <p:cNvSpPr/>
          <p:nvPr/>
        </p:nvSpPr>
        <p:spPr>
          <a:xfrm rot="0"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6" name="Connector 6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7" name="AutoShape 7"/>
          <p:cNvSpPr/>
          <p:nvPr/>
        </p:nvSpPr>
        <p:spPr>
          <a:xfrm rot="0"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8" name="Picture 8"/>
          <p:cNvPicPr>
            <a:picLocks noChangeAspect="1"/>
          </p:cNvPicPr>
          <p:nvPr/>
        </p:nvPicPr>
        <p:blipFill>
          <a:blip r:embed="rIdDgbCqR">
            <a:alphaModFix amt="100000"/>
          </a:blip>
          <a:srcRect b="0" l="16798" r="16798" t="0"/>
          <a:stretch>
            <a:fillRect/>
          </a:stretch>
        </p:blipFill>
        <p:spPr>
          <a:xfrm rot="0">
            <a:off x="6871622" y="1611182"/>
            <a:ext cx="4449637" cy="446723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9" name="TextBox 9"/>
          <p:cNvSpPr txBox="1"/>
          <p:nvPr/>
        </p:nvSpPr>
        <p:spPr>
          <a:xfrm rot="0">
            <a:off x="1297192" y="1308287"/>
            <a:ext cx="4348638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货到人模式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1297192" y="3754179"/>
            <a:ext cx="4414526" cy="62484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智能路径规划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1297192" y="2533342"/>
            <a:ext cx="4348638" cy="60579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连续自动化作业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1297192" y="4976754"/>
            <a:ext cx="4414526" cy="62484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无感识别技术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1297192" y="1813874"/>
            <a:ext cx="4798808" cy="871282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AGV将货架搬运至工作站，京东地狼系统使拣选效率从100件/人时提升至400件，行走距离减少85%。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eyJfdGVtcGxhdGVEYXRhIjp7ImNvbnRlbnRUeXBlIjoiJGl0ZW0xX2MiLCJsaW5lQ291bnQiOiIyIiwid29yZENvdW50IjoiMjMifSwidGFnIjoiJGl0ZW0xX2MifQ==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1297192" y="3060491"/>
            <a:ext cx="4798808" cy="806539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一鸣食品冷冻库通过堆垛机+输送线协同，出入库效率达220托/小时，较人工操作提升3倍。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eyJfdGVtcGxhdGVEYXRhIjp7ImNvbnRlbnRUeXBlIjoiJGl0ZW0yX2MiLCJsaW5lQ291bnQiOiIyIiwid29yZENvdW50IjoiMjMifSwidGFnIjoiJGl0ZW0yX2MifQ==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1297192" y="4284150"/>
            <a:ext cx="4798808" cy="806539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激光导航AGV集群调度系统使中粮项目转运效率达3.2m/s，拥堵率下降90%，设备闲置率&lt;5%。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eyJfdGVtcGxhdGVEYXRhIjp7ImNvbnRlbnRUeXBlIjoiJGl0ZW0zX2MiLCJsaW5lQ291bnQiOiIyIiwid29yZENvdW50IjoiMjMifSwidGFnIjoiJGl0ZW0zX2MifQ==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1297192" y="5506725"/>
            <a:ext cx="4798808" cy="806539"/>
          </a:xfrm>
          <a:prstGeom prst="rect">
            <a:avLst/>
          </a:prstGeom>
          <a:ln/>
        </p:spPr>
        <p:txBody>
          <a:bodyPr anchor="t" anchorCtr="0" bIns="0" lIns="123825" rIns="57150" rtlCol="0" tIns="0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RFID批量读取实现秒级出入库，卤江南冷链仓库单据处理时间从30分钟缩短至30秒。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eyJfdGVtcGxhdGVEYXRhIjp7ImNvbnRlbnRUeXBlIjoiJGl0ZW00X2MiLCJsaW5lQ291bnQiOiIyIiwid29yZENvdW50IjoiMjMifSwidGFnIjoiJGl0ZW00X2MifQ==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S9nOS4muaViOeOh+S8mOWMllxuIyMjIOi0p+WIsOS6uuaooeW8j1xuQUdW5bCG6LSn5p625pCs6L+Q6Iez5bel5L2c56uZ77yM5Lqs5Lic5Zyw54u857O757uf5L2/5ouj6YCJ5pWI546H5LuOMTAw5Lu2L+S6uuaXtuaPkOWNh+iHszQwMOS7tu+8jOihjOi1sOi3neemu+WHj+WwkTg1JeOAglxuIyMjIOi/nue7reiHquWKqOWMluS9nOS4mlxu5LiA6bij6aOf5ZOB5Ya35Ya75bqT6YCa6L+H5aCG5Z6b5py6K+i+k+mAgee6v+WNj+WQjO+8jOWHuuWFpeW6k+aViOeOh+i+vjIyMOaJmC/lsI/ml7bvvIzovoPkurrlt6Xmk43kvZzmj5DljYcz5YCN44CCXG4jIyMg5pm66IO96Lev5b6E6KeE5YiSXG7mv4DlhYnlr7zoiKpBR1bpm4bnvqTosIPluqbns7vnu5/kvb/kuK3nsq7pobnnm67ovazov5DmlYjnjofovr4zLjJtL3PvvIzmi6XloLXnjofkuIvpmY05MCXvvIzorr7lpIfpl7Lnva7njoc8NSXjgIJcbiMjIyDml6DmhJ/or4bliKvmioDmnK9cblJGSUTmibnph4/or7vlj5blrp7njrDnp5Lnuqflh7rlhaXlupPvvIzljaTmsZ/ljZflhrfpk77ku5PlupPljZXmja7lpITnkIbml7bpl7Tku44zMOWIhumSn+e8qeefreiHszMw56eS44CCIiwidHBsaWQiOiIxMDI0ODUiLCJ0cGxOYW1lIjoibGlzdDRfc2FtZVN0eWxlMXBpYzIiLCJlZGl0ZWQiOiJmYWxzZSJ9</bd:templateData>
    </p:ext>
  </p:extLst>
</p:sld>
</file>

<file path=ppt/slides/slide_e7a39f35-4c83-43b9-b346-f0aa3ceec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scQDUC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ctr" anchorCtr="0" bIns="123825" lIns="123825" rIns="57150" rtlCol="0" tIns="123825" vert="horz" wrap="square">
            <a:no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托盘级高架库方案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0">
            <a:off x="384075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 rot="0">
            <a:off x="454011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采用双立柱堆垛机配合35米高位货架，实现托盘货物垂直空间最大化利用，存储密度较传统仓库提升300%，支持3000kg重型货物存取。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eyJfdGVtcGxhdGVEYXRhIjp7ImNvbnRlbnRUeXBlIjoiJGl0ZW0xX2MiLCJsaW5lQ291bnQiOiI1Iiwid29yZENvdW50IjoiMjAifSwidGFnIjoiJGl0ZW0xX2MifQ==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 rot="0">
            <a:off x="358275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高密度存储设计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eyJfdGVtcGxhdGVEYXRhIjp7ImNvbnRlbnRUeXBlIjoiJGl0ZW0xX3RpdGxlIiwibGluZUNvdW50IjoiMSIsIndvcmRDb3VudCI6IjE1In0sInRhZyI6IiRpdGVtMV90aXRsZSJ9</bd:templateData>
          </p:ext>
        </p:extLst>
      </p:sp>
      <p:sp>
        <p:nvSpPr>
          <p:cNvPr id="6" name="AutoShape 6"/>
          <p:cNvSpPr/>
          <p:nvPr/>
        </p:nvSpPr>
        <p:spPr>
          <a:xfrm rot="0">
            <a:off x="4297736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 rot="0">
            <a:off x="4367671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通过信息化系统集成AI决策算法，动态优化堆垛机路径规划与设备协同，实现出入库效率提升23%以上。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eyJfdGVtcGxhdGVEYXRhIjp7ImNvbnRlbnRUeXBlIjoiJGl0ZW0yX2MiLCJsaW5lQ291bnQiOiI1Iiwid29yZENvdW50IjoiMjAifSwidGFnIjoiJGl0ZW0yX2MifQ==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4271935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AI智能调度系统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eyJfdGVtcGxhdGVEYXRhIjp7ImNvbnRlbnRUeXBlIjoiJGl0ZW0yX3RpdGxlIiwibGluZUNvdW50IjoiMSIsIndvcmRDb3VudCI6IjE1In0sInRhZyI6IiRpdGVtMl90aXRsZSJ9</bd:templateData>
          </p:ext>
        </p:extLst>
      </p:sp>
      <p:sp>
        <p:nvSpPr>
          <p:cNvPr id="9" name="AutoShape 9"/>
          <p:cNvSpPr/>
          <p:nvPr/>
        </p:nvSpPr>
        <p:spPr>
          <a:xfrm rot="0">
            <a:off x="2127802" y="4534143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2197737" y="4681702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配备激光防撞传感器、紧急制动系统和多重定位校验，确保堆垛机在高速运行下的稳定性与安全性。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eyJfdGVtcGxhdGVEYXRhIjp7ImNvbnRlbnRUeXBlIjoiJGl0ZW00X2MiLCJsaW5lQ291bnQiOiI1Iiwid29yZENvdW50IjoiMjAifSwidGFnIjoiJGl0ZW00X2MifQ==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2102002" y="4039126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安全冗余机制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eyJfdGVtcGxhdGVEYXRhIjp7ImNvbnRlbnRUeXBlIjoiJGl0ZW00X3RpdGxlIiwibGluZUNvdW50IjoiMSIsIndvcmRDb3VudCI6IjE1In0sInRhZyI6IiRpdGVtNF90aXRsZSJ9</bd:templateData>
          </p:ext>
        </p:extLst>
      </p:sp>
      <p:sp>
        <p:nvSpPr>
          <p:cNvPr id="12" name="AutoShape 12"/>
          <p:cNvSpPr/>
          <p:nvPr/>
        </p:nvSpPr>
        <p:spPr>
          <a:xfrm rot="0">
            <a:off x="6142390" y="4534143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6212325" y="4681702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从入库扫码、自动称重到智能分拣全程无人干预，WMS系统实时追踪托盘位置与库存状态。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eyJfdGVtcGxhdGVEYXRhIjp7ImNvbnRlbnRUeXBlIjoiJGl0ZW01X2MiLCJsaW5lQ291bnQiOiI1Iiwid29yZENvdW50IjoiMjAifSwidGFnIjoiJGl0ZW01X2MifQ==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6116589" y="4039126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全流程自动化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eyJfdGVtcGxhdGVEYXRhIjp7ImNvbnRlbnRUeXBlIjoiJGl0ZW01X3RpdGxlIiwibGluZUNvdW50IjoiMSIsIndvcmRDb3VudCI6IjE1In0sInRhZyI6IiRpdGVtNV90aXRsZSJ9</bd:templateData>
          </p:ext>
        </p:extLst>
      </p:sp>
      <p:sp>
        <p:nvSpPr>
          <p:cNvPr id="15" name="AutoShape 15"/>
          <p:cNvSpPr/>
          <p:nvPr/>
        </p:nvSpPr>
        <p:spPr>
          <a:xfrm rot="0">
            <a:off x="8177754" y="1963339"/>
            <a:ext cx="3637467" cy="1772200"/>
          </a:xfrm>
          <a:prstGeom prst="roundRect">
            <a:avLst>
              <a:gd fmla="val 7233" name="adj"/>
            </a:avLst>
          </a:prstGeom>
          <a:solidFill>
            <a:schemeClr val="lt2">
              <a:alpha val="61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8247690" y="2110898"/>
            <a:ext cx="3497596" cy="1379868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货架系统采用标准化接口设计，支持单深位/双深位灵活配置，可根据业务增长需求快速扩展存储容量。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eyJfdGVtcGxhdGVEYXRhIjp7ImNvbnRlbnRUeXBlIjoiJGl0ZW0zX2MiLCJsaW5lQ291bnQiOiI1Iiwid29yZENvdW50IjoiMjAifSwidGFnIjoiJGl0ZW0zX2MifQ==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8151954" y="1468323"/>
            <a:ext cx="3689067" cy="560391"/>
          </a:xfrm>
          <a:prstGeom prst="rect">
            <a:avLst/>
          </a:prstGeom>
          <a:ln/>
        </p:spPr>
        <p:txBody>
          <a:bodyPr anchor="t" anchorCtr="0" bIns="45720" lIns="91440" rIns="91440" rtlCol="0" tIns="45720" vert="horz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b="1" lang="en-US" sz="17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模块化扩展架构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eyJfdGVtcGxhdGVEYXRhIjp7ImNvbnRlbnRUeXBlIjoiJGl0ZW0zX3RpdGxlIiwibGluZUNvdW50IjoiMSIsIndvcmRDb3VudCI6IjE1In0sInRhZyI6IiRpdGVtM190aXRsZSJ9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aJmOebmOe6p+mrmOaetuW6k+aWueahiFxuIyMjIOmrmOWvhuW6puWtmOWCqOiuvuiuoVxu6YeH55So5Y+M56uL5p+x5aCG5Z6b5py66YWN5ZCIMzXnsbPpq5jkvY3otKfmnrbvvIzlrp7njrDmiZjnm5jotKfnianlnoLnm7Tnqbrpl7TmnIDlpKfljJbliKnnlKjvvIzlrZjlgqjlr4bluqbovoPkvKDnu5/ku5PlupPmj5DljYczMDAl77yM5pSv5oyBMzAwMGtn6YeN5Z6L6LSn54mp5a2Y5Y+W44CCXG4jIyMgQUnmmbrog73osIPluqbns7vnu59cbumAmui/h+S/oeaBr+WMluezu+e7n+mbhuaIkEFJ5Yaz562W566X5rOV77yM5Yqo5oCB5LyY5YyW5aCG5Z6b5py66Lev5b6E6KeE5YiS5LiO6K6+5aSH5Y2P5ZCM77yM5a6e546w5Ye65YWl5bqT5pWI546H5o+Q5Y2HMjMl5Lul5LiK44CCXG4jIyMg5qih5Z2X5YyW5omp5bGV5p625p6EXG7otKfmnrbns7vnu5/ph4fnlKjmoIflh4bljJbmjqXlj6Porr7orqHvvIzmlK/mjIHljZXmt7HkvY0v5Y+M5rex5L2N54G15rS76YWN572u77yM5Y+v5qC55o2u5Lia5Yqh5aKe6ZW/6ZyA5rGC5b+r6YCf5omp5bGV5a2Y5YKo5a656YeP44CCXG4jIyMg5a6J5YWo5YaX5L2Z5py65Yi2XG7phY3lpIfmv4DlhYnpmLLmkp7kvKDmhJ/lmajjgIHntKfmgKXliLbliqjns7vnu5/lkozlpJrph43lrprkvY3moKHpqozvvIznoa7kv53loIblnpvmnLrlnKjpq5jpgJ/ov5DooYzkuIvnmoTnqLPlrprmgKfkuI7lronlhajmgKfjgIJcbiMjIyDlhajmtYHnqIvoh6rliqjljJZcbuS7juWFpeW6k+aJq+eggeOAgeiHquWKqOensOmHjeWIsOaZuuiDveWIhuaLo+WFqOeoi+aXoOS6uuW5sumihO+8jFdNU+ezu+e7n+WunuaXtui/vei4quaJmOebmOS9jee9ruS4juW6k+WtmOeKtuaAgeOAgiIsInRwbGlkIjoiMTAyNDg1IiwidHBsTmFtZSI6Imxpc3Q1X2xvbmdUaXRsZTQiLCJlZGl0ZWQiOiJmYWxzZSJ9</bd:templateData>
    </p:ext>
  </p:extLst>
</p:sld>
</file>

<file path=ppt/slides/slide_f91f00e4-a0a9-44e6-8008-e635899e006b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EEhmEL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实施效益分析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q2Yb2O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eyJtZCI6IiMjIOWunuaWveaViOebiuWIhuaekCIsInRwbGlkIjoiMTAyNDg1IiwidHBsTmFtZSI6ImgydGl0bGVfY2h1YW5na2V0aWUwMDIiLCJlZGl0ZWQiOiJmYWxzZSJ9</bd:templateData>
    </p:ext>
  </p:extLst>
</p:sld>
</file>

<file path=ppt/slides/slide_ff292ed2-014d-4e71-93a4-332c4cd8ae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qjrzOA">
            <a:alphaModFix amt="100000"/>
          </a:blip>
          <a:srcRect/>
          <a:stretch>
            <a:fillRect b="0" l="0" r="0" t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41" name="AutoShape 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4F9FF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34" name="Freeform 3"/>
          <p:cNvSpPr/>
          <p:nvPr/>
        </p:nvSpPr>
        <p:spPr>
          <a:xfrm rot="0">
            <a:off x="0" y="0"/>
            <a:ext cx="12192000" cy="6881283"/>
          </a:xfrm>
          <a:custGeom>
            <a:avLst/>
            <a:gdLst/>
            <a:ahLst/>
            <a:cxnLst/>
            <a:rect b="b" l="l" r="r" t="t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067870" y="695325"/>
                </a:moveTo>
                <a:cubicBezTo>
                  <a:pt x="862119" y="695325"/>
                  <a:pt x="695325" y="862119"/>
                  <a:pt x="695325" y="1067870"/>
                </a:cubicBezTo>
                <a:lnTo>
                  <a:pt x="695325" y="5790130"/>
                </a:lnTo>
                <a:cubicBezTo>
                  <a:pt x="695325" y="5995881"/>
                  <a:pt x="862119" y="6162675"/>
                  <a:pt x="1067870" y="6162675"/>
                </a:cubicBezTo>
                <a:lnTo>
                  <a:pt x="11124130" y="6162675"/>
                </a:lnTo>
                <a:cubicBezTo>
                  <a:pt x="11329881" y="6162675"/>
                  <a:pt x="11496675" y="5995881"/>
                  <a:pt x="11496675" y="5790130"/>
                </a:cubicBezTo>
                <a:lnTo>
                  <a:pt x="11496675" y="1067870"/>
                </a:lnTo>
                <a:cubicBezTo>
                  <a:pt x="11496675" y="862119"/>
                  <a:pt x="11329881" y="695325"/>
                  <a:pt x="11124130" y="695325"/>
                </a:cubicBezTo>
                <a:lnTo>
                  <a:pt x="1067870" y="695325"/>
                </a:lnTo>
                <a:close/>
              </a:path>
            </a:pathLst>
          </a:custGeom>
          <a:solidFill>
            <a:srgbClr val="1850AC">
              <a:alpha val="100000"/>
            </a:srgb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grpSp>
        <p:nvGrpSpPr>
          <p:cNvPr id="900002" name="Group 4"/>
          <p:cNvGrpSpPr/>
          <p:nvPr/>
        </p:nvGrpSpPr>
        <p:grpSpPr>
          <a:xfrm rot="0">
            <a:off x="1337500" y="1644491"/>
            <a:ext cx="172594" cy="884778"/>
            <a:chOff x="1337500" y="1644491"/>
            <a:chExt cx="172594" cy="884778"/>
          </a:xfrm>
        </p:grpSpPr>
        <p:sp>
          <p:nvSpPr>
            <p:cNvPr id="900022" name="AutoShape 5"/>
            <p:cNvSpPr/>
            <p:nvPr/>
          </p:nvSpPr>
          <p:spPr>
            <a:xfrm rot="0">
              <a:off x="1339025" y="2001298"/>
              <a:ext cx="171069" cy="171069"/>
            </a:xfrm>
            <a:prstGeom prst="ellipse">
              <a:avLst/>
            </a:prstGeom>
            <a:solidFill>
              <a:srgbClr val="FEB83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7" name="AutoShape 6"/>
            <p:cNvSpPr/>
            <p:nvPr/>
          </p:nvSpPr>
          <p:spPr>
            <a:xfrm rot="0">
              <a:off x="1337500" y="1644491"/>
              <a:ext cx="171069" cy="171069"/>
            </a:xfrm>
            <a:prstGeom prst="ellipse">
              <a:avLst/>
            </a:prstGeom>
            <a:solidFill>
              <a:schemeClr val="dk1">
                <a:alpha val="100000"/>
              </a:scheme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  <p:sp>
          <p:nvSpPr>
            <p:cNvPr id="900028" name="AutoShape 7"/>
            <p:cNvSpPr/>
            <p:nvPr/>
          </p:nvSpPr>
          <p:spPr>
            <a:xfrm rot="0">
              <a:off x="1337500" y="2358200"/>
              <a:ext cx="171069" cy="171069"/>
            </a:xfrm>
            <a:prstGeom prst="ellipse">
              <a:avLst/>
            </a:prstGeom>
            <a:solidFill>
              <a:srgbClr val="4588DA">
                <a:alpha val="100000"/>
              </a:srgbClr>
            </a:solidFill>
            <a:ln/>
          </p:spPr>
          <p:txBody>
            <a:bodyPr anchor="ctr" anchorCtr="0" bIns="45720" lIns="91440" rIns="91440" rtlCol="0" tIns="45720" vert="horz" wrap="square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900">
                  <a:solidFill>
                    <a:srgbClr val="000000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/>
              </a:r>
              <a:endParaRPr lang="en-US" sz="1100"/>
            </a:p>
          </p:txBody>
        </p:sp>
      </p:grpSp>
      <p:sp>
        <p:nvSpPr>
          <p:cNvPr id="900003" name="TextBox 8"/>
          <p:cNvSpPr txBox="1"/>
          <p:nvPr/>
        </p:nvSpPr>
        <p:spPr>
          <a:xfrm rot="0">
            <a:off x="2196995" y="3299883"/>
            <a:ext cx="4088130" cy="1577340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6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关键技术组成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eyJfdGVtcGxhdGVEYXRhIjp7ImNvbnRlbnRUeXBlIjoiJHRpdGxlIiwibGluZUNvdW50IjoiMyIsIndvcmRDb3VudCI6IjcifSwidGFnIjoiJHRpdGxlIn0=</bd:templateData>
          </p:ext>
        </p:extLst>
      </p:sp>
      <p:sp>
        <p:nvSpPr>
          <p:cNvPr id="900018" name="AutoShape 9"/>
          <p:cNvSpPr/>
          <p:nvPr/>
        </p:nvSpPr>
        <p:spPr>
          <a:xfrm rot="0">
            <a:off x="2342190" y="1644445"/>
            <a:ext cx="1433089" cy="1296439"/>
          </a:xfrm>
          <a:prstGeom prst="snip1Rect">
            <a:avLst>
              <a:gd fmla="val 28392" name="adj"/>
            </a:avLst>
          </a:prstGeom>
          <a:solidFill>
            <a:srgbClr val="FEB83A">
              <a:alpha val="100000"/>
            </a:srgb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900025" name="TextBox 10"/>
          <p:cNvSpPr txBox="1"/>
          <p:nvPr/>
        </p:nvSpPr>
        <p:spPr>
          <a:xfrm rot="0">
            <a:off x="2356953" y="1801304"/>
            <a:ext cx="1335405" cy="1224915"/>
          </a:xfrm>
          <a:prstGeom prst="rect">
            <a:avLst/>
          </a:prstGeom>
          <a:noFill/>
          <a:ln/>
        </p:spPr>
        <p:txBody>
          <a:bodyPr anchor="t" anchorCtr="0" bIns="45720" lIns="91440" rIns="91440" rtlCol="0" tIns="4572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eyJfdGVtcGxhdGVEYXRhIjp7ImNvbnRlbnRUeXBlIjoiJG51bWJlciIsImxpbmVDb3VudCI6IjEiLCJ3b3JkQ291bnQiOiIxIn0sInRhZyI6Im5vRWRpdCJ9</bd:templateData>
          </p:ext>
        </p:extLst>
      </p:sp>
      <p:sp>
        <p:nvSpPr>
          <p:cNvPr id="900004" name="AutoShape 11"/>
          <p:cNvSpPr/>
          <p:nvPr/>
        </p:nvSpPr>
        <p:spPr>
          <a:xfrm flipV="1" rot="0">
            <a:off x="2342190" y="5438824"/>
            <a:ext cx="345796" cy="55711"/>
          </a:xfrm>
          <a:prstGeom prst="rect">
            <a:avLst/>
          </a:prstGeom>
          <a:solidFill>
            <a:schemeClr val="dk1">
              <a:alpha val="100000"/>
            </a:schemeClr>
          </a:solidFill>
          <a:ln/>
        </p:spPr>
        <p:txBody>
          <a:bodyPr anchor="ctr" anchorCtr="0" bIns="45720" lIns="91440" rIns="91440" rtlCol="0" tIns="4572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cxnSp>
        <p:nvCxnSpPr>
          <p:cNvPr id="12" name="Connector 12"/>
          <p:cNvCxnSpPr/>
          <p:nvPr/>
        </p:nvCxnSpPr>
        <p:spPr>
          <a:xfrm flipV="1">
            <a:off x="1416050" y="2853266"/>
            <a:ext cx="0" cy="2717470"/>
          </a:xfrm>
          <a:prstGeom prst="line">
            <a:avLst/>
          </a:prstGeom>
          <a:ln w="12700">
            <a:solidFill>
              <a:schemeClr val="dk1"/>
            </a:solidFill>
            <a:prstDash val="solid"/>
            <a:headEnd type="none"/>
            <a:tailEnd type="triangl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cxnSp>
      <p:sp>
        <p:nvSpPr>
          <p:cNvPr id="900016" name="Freeform 13"/>
          <p:cNvSpPr/>
          <p:nvPr/>
        </p:nvSpPr>
        <p:spPr>
          <a:xfrm rot="5400000">
            <a:off x="5947184" y="1996354"/>
            <a:ext cx="758163" cy="757633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900005" name="Picture 14"/>
          <p:cNvPicPr>
            <a:picLocks noChangeAspect="1"/>
          </p:cNvPicPr>
          <p:nvPr/>
        </p:nvPicPr>
        <p:blipFill>
          <a:blip r:embed="rIdq1FiHd"/>
          <a:srcRect/>
          <a:stretch>
            <a:fillRect/>
          </a:stretch>
        </p:blipFill>
        <p:spPr>
          <a:xfrm flipH="1" rot="0">
            <a:off x="6705082" y="1852105"/>
            <a:ext cx="5070645" cy="3383125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pic>
      <p:sp>
        <p:nvSpPr>
          <p:cNvPr id="900017" name="Freeform 15"/>
          <p:cNvSpPr/>
          <p:nvPr/>
        </p:nvSpPr>
        <p:spPr>
          <a:xfrm rot="5400000">
            <a:off x="9082137" y="5176219"/>
            <a:ext cx="496600" cy="496254"/>
          </a:xfrm>
          <a:custGeom>
            <a:avLst/>
            <a:gdLst/>
            <a:ahLst/>
            <a:cxnLst/>
            <a:rect b="b" l="l" r="r" t="t"/>
            <a:pathLst>
              <a:path h="1399630" w="1400608">
                <a:moveTo>
                  <a:pt x="0" y="707783"/>
                </a:moveTo>
                <a:lnTo>
                  <a:pt x="0" y="700604"/>
                </a:lnTo>
                <a:lnTo>
                  <a:pt x="3608" y="700604"/>
                </a:lnTo>
                <a:lnTo>
                  <a:pt x="74379" y="697031"/>
                </a:lnTo>
                <a:cubicBezTo>
                  <a:pt x="423464" y="661579"/>
                  <a:pt x="695875" y="366766"/>
                  <a:pt x="695875" y="8327"/>
                </a:cubicBezTo>
                <a:lnTo>
                  <a:pt x="695455" y="0"/>
                </a:lnTo>
                <a:lnTo>
                  <a:pt x="700004" y="0"/>
                </a:lnTo>
                <a:lnTo>
                  <a:pt x="702634" y="0"/>
                </a:lnTo>
                <a:lnTo>
                  <a:pt x="702634" y="52086"/>
                </a:lnTo>
                <a:lnTo>
                  <a:pt x="703578" y="70771"/>
                </a:lnTo>
                <a:cubicBezTo>
                  <a:pt x="739029" y="419856"/>
                  <a:pt x="1033842" y="692267"/>
                  <a:pt x="1392281" y="692267"/>
                </a:cubicBezTo>
                <a:lnTo>
                  <a:pt x="1400608" y="691847"/>
                </a:lnTo>
                <a:lnTo>
                  <a:pt x="1400608" y="699026"/>
                </a:lnTo>
                <a:lnTo>
                  <a:pt x="1397000" y="699026"/>
                </a:lnTo>
                <a:lnTo>
                  <a:pt x="1326229" y="702599"/>
                </a:lnTo>
                <a:cubicBezTo>
                  <a:pt x="977144" y="738051"/>
                  <a:pt x="704733" y="1032864"/>
                  <a:pt x="704733" y="1391303"/>
                </a:cubicBezTo>
                <a:lnTo>
                  <a:pt x="705153" y="1399630"/>
                </a:lnTo>
                <a:lnTo>
                  <a:pt x="700604" y="1399630"/>
                </a:lnTo>
                <a:lnTo>
                  <a:pt x="697974" y="1399630"/>
                </a:lnTo>
                <a:lnTo>
                  <a:pt x="697974" y="1347544"/>
                </a:lnTo>
                <a:lnTo>
                  <a:pt x="697030" y="1328859"/>
                </a:lnTo>
                <a:cubicBezTo>
                  <a:pt x="661579" y="979774"/>
                  <a:pt x="366766" y="707363"/>
                  <a:pt x="8327" y="707363"/>
                </a:cubicBezTo>
              </a:path>
            </a:pathLst>
          </a:custGeom>
          <a:solidFill>
            <a:schemeClr val="dk1">
              <a:alpha val="100000"/>
            </a:schemeClr>
          </a:solidFill>
          <a:ln/>
        </p:spPr>
        <p:txBody>
          <a:bodyPr anchor="ctr" anchorCtr="0" rtlCol="0" vert="horz" wrap="square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/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eyJtZCI6IiMjIOWFs+mUruaKgOacr+e7hOaIkCIsInRwbGlkIjoiMTAyNDg1IiwidHBsTmFtZSI6ImgydGl0bGVfY2h1YW5na2V0aWUwMDIiLCJlZGl0ZWQiOiJmYWxzZSJ9</bd:templateData>
    </p:ext>
  </p:extLst>
</p:sld>
</file>

<file path=ppt/slides/slide_ff461153-12dc-4a09-ab1c-7bde1ac360ea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jWVgxP">
            <a:alphaModFix amt="100000"/>
          </a:blip>
          <a:srcRect/>
          <a:stretch>
            <a:fillRect b="-15" l="0" r="0" t="-15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>
            <a:off x="4394200" y="1962150"/>
            <a:ext cx="1685925" cy="1676400"/>
          </a:xfrm>
          <a:custGeom>
            <a:avLst/>
            <a:gdLst/>
            <a:ahLst/>
            <a:cxnLst/>
            <a:rect b="b" l="l" r="r" t="t"/>
            <a:pathLst>
              <a:path h="1676401" w="1685845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326098" y="686287"/>
                </a:lnTo>
                <a:lnTo>
                  <a:pt x="222801" y="399824"/>
                </a:lnTo>
                <a:lnTo>
                  <a:pt x="531767" y="453989"/>
                </a:lnTo>
                <a:lnTo>
                  <a:pt x="618095" y="376276"/>
                </a:lnTo>
                <a:cubicBezTo>
                  <a:pt x="918260" y="131924"/>
                  <a:pt x="1295386" y="-2173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3" name="Freeform 3"/>
          <p:cNvSpPr/>
          <p:nvPr/>
        </p:nvSpPr>
        <p:spPr>
          <a:xfrm rot="5400000">
            <a:off x="6143625" y="1966913"/>
            <a:ext cx="1685925" cy="1676400"/>
          </a:xfrm>
          <a:custGeom>
            <a:avLst/>
            <a:gdLst/>
            <a:ahLst/>
            <a:cxnLst/>
            <a:rect b="b" l="l" r="r" t="t"/>
            <a:pathLst>
              <a:path h="1676401" w="1685845">
                <a:moveTo>
                  <a:pt x="0" y="1676400"/>
                </a:moveTo>
                <a:cubicBezTo>
                  <a:pt x="0" y="1285935"/>
                  <a:pt x="136219" y="909570"/>
                  <a:pt x="382258" y="610787"/>
                </a:cubicBezTo>
                <a:lnTo>
                  <a:pt x="437390" y="550233"/>
                </a:lnTo>
                <a:lnTo>
                  <a:pt x="357434" y="249447"/>
                </a:lnTo>
                <a:lnTo>
                  <a:pt x="675579" y="334017"/>
                </a:lnTo>
                <a:lnTo>
                  <a:pt x="751263" y="278380"/>
                </a:lnTo>
                <a:cubicBezTo>
                  <a:pt x="1026282" y="96392"/>
                  <a:pt x="1351166" y="-1859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4" name="Freeform 4"/>
          <p:cNvSpPr/>
          <p:nvPr/>
        </p:nvSpPr>
        <p:spPr>
          <a:xfrm rot="10800000">
            <a:off x="6138863" y="3733800"/>
            <a:ext cx="1685925" cy="1676400"/>
          </a:xfrm>
          <a:custGeom>
            <a:avLst/>
            <a:gdLst/>
            <a:ahLst/>
            <a:cxnLst/>
            <a:rect b="b" l="l" r="r" t="t"/>
            <a:pathLst>
              <a:path h="1676401" w="1685845">
                <a:moveTo>
                  <a:pt x="696276" y="1676401"/>
                </a:move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284783" y="741830"/>
                </a:lnTo>
                <a:lnTo>
                  <a:pt x="159770" y="469217"/>
                </a:lnTo>
                <a:lnTo>
                  <a:pt x="484566" y="498419"/>
                </a:lnTo>
                <a:lnTo>
                  <a:pt x="494350" y="487672"/>
                </a:lnTo>
                <a:cubicBezTo>
                  <a:pt x="810781" y="173019"/>
                  <a:pt x="1239606" y="-2487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sp>
        <p:nvSpPr>
          <p:cNvPr id="5" name="Freeform 5"/>
          <p:cNvSpPr/>
          <p:nvPr/>
        </p:nvSpPr>
        <p:spPr>
          <a:xfrm rot="16200000">
            <a:off x="4389437" y="3729038"/>
            <a:ext cx="1685925" cy="1676400"/>
          </a:xfrm>
          <a:custGeom>
            <a:avLst/>
            <a:gdLst/>
            <a:ahLst/>
            <a:cxnLst/>
            <a:rect b="b" l="l" r="r" t="t"/>
            <a:pathLst>
              <a:path h="1676401" w="1685845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230154"/>
                  <a:pt x="177919" y="802325"/>
                  <a:pt x="494350" y="487672"/>
                </a:cubicBezTo>
                <a:lnTo>
                  <a:pt x="548831" y="438628"/>
                </a:lnTo>
                <a:lnTo>
                  <a:pt x="466941" y="130569"/>
                </a:lnTo>
                <a:lnTo>
                  <a:pt x="835339" y="228498"/>
                </a:lnTo>
                <a:lnTo>
                  <a:pt x="892743" y="194440"/>
                </a:lnTo>
                <a:cubicBezTo>
                  <a:pt x="1134849" y="66424"/>
                  <a:pt x="1406946" y="-1544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>eyJ0YWciOiJub0VkaXQifQ==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IobjBs"/>
          <a:srcRect l="24780" r="24780"/>
          <a:stretch>
            <a:fillRect/>
          </a:stretch>
        </p:blipFill>
        <p:spPr>
          <a:xfrm rot="0">
            <a:off x="5175250" y="2743200"/>
            <a:ext cx="1885950" cy="1885950"/>
          </a:xfrm>
          <a:prstGeom prst="ellipse">
            <a:avLst/>
          </a:prstGeom>
          <a:noFill/>
        </p:spPr>
        <p:extLst>
          <p:ext uri="http://schemas.baidu.com/office/drawing/2023/templateData">
            <bd:templateData xmlns:bd="http://schemas.baidu.com/office/drawing/2023/templateData">eyJfdGVtcGxhdGVEYXRhIjp7ImNvbnRlbnRUeXBlIjoiJGltZzAifSwidGFnIjoiJGltZzAifQ==</bd:templateData>
          </p:ext>
        </p:extLst>
      </p:pic>
      <p:sp>
        <p:nvSpPr>
          <p:cNvPr id="7" name="TextBox 7"/>
          <p:cNvSpPr txBox="1"/>
          <p:nvPr/>
        </p:nvSpPr>
        <p:spPr>
          <a:xfrm rot="0">
            <a:off x="476023" y="265328"/>
            <a:ext cx="11239500" cy="914400"/>
          </a:xfrm>
          <a:prstGeom prst="rect">
            <a:avLst/>
          </a:prstGeom>
          <a:ln/>
        </p:spPr>
        <p:txBody>
          <a:bodyPr anchor="t" anchorCtr="0" bIns="123825" lIns="123825" rIns="57150" rtlCol="0" tIns="123825" vert="horz" wrap="square">
            <a:spAutoFit/>
          </a:bodyPr>
          <a:lstStyle/>
          <a:p>
            <a:pPr>
              <a:lnSpc>
                <a:spcPct val="140000"/>
              </a:lnSpc>
            </a:pPr>
            <a:r>
              <a:rPr b="1" lang="en-US" sz="300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制造业智能储运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eyJfdGVtcGxhdGVEYXRhIjp7ImNvbnRlbnRUeXBlIjoiJHRpdGxlIiwibGluZUNvdW50IjoiMSIsIndvcmRDb3VudCI6IjI4In0sInRhZyI6IiR0aXRsZSJ9</bd:templateData>
          </p:ext>
        </p:extLst>
      </p:sp>
      <p:sp>
        <p:nvSpPr>
          <p:cNvPr id="8" name="TextBox 8"/>
          <p:cNvSpPr txBox="1"/>
          <p:nvPr/>
        </p:nvSpPr>
        <p:spPr>
          <a:xfrm rot="0">
            <a:off x="863500" y="1773916"/>
            <a:ext cx="3313333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r">
              <a:lnSpc>
                <a:spcPct val="12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全流程自动化作业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eyJfdGVtcGxhdGVEYXRhIjp7ImNvbnRlbnRUeXBlIjoiJGl0ZW0xX3RpdGxlIiwibGluZUNvdW50IjoiMSIsIndvcmRDb3VudCI6IjExIn0sInRhZyI6IiRpdGVtMV90aXRsZSJ9</bd:templateData>
          </p:ext>
        </p:extLst>
      </p:sp>
      <p:sp>
        <p:nvSpPr>
          <p:cNvPr id="9" name="TextBox 9"/>
          <p:cNvSpPr txBox="1"/>
          <p:nvPr/>
        </p:nvSpPr>
        <p:spPr>
          <a:xfrm rot="0">
            <a:off x="863500" y="2191669"/>
            <a:ext cx="3313333" cy="1449697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采用智能仓储系统集成自动化设备，融合5G、RFID等技术，实现物资自动入库、存储、出库、盘点和分拣的智能化作业模式。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eyJfdGVtcGxhdGVEYXRhIjp7ImNvbnRlbnRUeXBlIjoiJGl0ZW0xX2MiLCJsaW5lQ291bnQiOiI0Iiwid29yZENvdW50IjoiMTUifSwidGFnIjoiJGl0ZW0xX2MifQ==</bd:templateData>
          </p:ext>
        </p:extLst>
      </p:sp>
      <p:sp>
        <p:nvSpPr>
          <p:cNvPr id="10" name="TextBox 10"/>
          <p:cNvSpPr txBox="1"/>
          <p:nvPr/>
        </p:nvSpPr>
        <p:spPr>
          <a:xfrm rot="0">
            <a:off x="6723094" y="2303033"/>
            <a:ext cx="792249" cy="792480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b="1" lang="en-US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id="11" name="TextBox 11"/>
          <p:cNvSpPr txBox="1"/>
          <p:nvPr/>
        </p:nvSpPr>
        <p:spPr>
          <a:xfrm rot="0">
            <a:off x="6770719" y="4166235"/>
            <a:ext cx="792249" cy="792480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b="1" lang="en-US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id="12" name="TextBox 12"/>
          <p:cNvSpPr txBox="1"/>
          <p:nvPr/>
        </p:nvSpPr>
        <p:spPr>
          <a:xfrm rot="0">
            <a:off x="4624560" y="4097553"/>
            <a:ext cx="792249" cy="792480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b="1" lang="en-US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id="13" name="TextBox 13"/>
          <p:cNvSpPr txBox="1"/>
          <p:nvPr/>
        </p:nvSpPr>
        <p:spPr>
          <a:xfrm rot="0">
            <a:off x="4702127" y="2312558"/>
            <a:ext cx="792249" cy="792480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ctr">
              <a:lnSpc>
                <a:spcPct val="140000"/>
              </a:lnSpc>
            </a:pPr>
            <a:r>
              <a:rPr b="1" lang="en-US" sz="2975">
                <a:solidFill>
                  <a:srgbClr val="FDFE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eyJfdGVtcGxhdGVEYXRhIjp7ImNvbnRlbnRUeXBlIjoiIiwibGluZUNvdW50IjoiMSIsIndvcmRDb3VudCI6IjEifSwidGFnIjoibm9FZGl0In0=</bd:templateData>
          </p:ext>
        </p:extLst>
      </p:sp>
      <p:sp>
        <p:nvSpPr>
          <p:cNvPr id="14" name="TextBox 14"/>
          <p:cNvSpPr txBox="1"/>
          <p:nvPr/>
        </p:nvSpPr>
        <p:spPr>
          <a:xfrm rot="0">
            <a:off x="863500" y="4180585"/>
            <a:ext cx="3313333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r">
              <a:lnSpc>
                <a:spcPct val="12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成本优化设计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eyJfdGVtcGxhdGVEYXRhIjp7ImNvbnRlbnRUeXBlIjoiJGl0ZW0zX3RpdGxlIiwibGluZUNvdW50IjoiMSIsIndvcmRDb3VudCI6IjExIn0sInRhZyI6IiRpdGVtM190aXRsZSJ9</bd:templateData>
          </p:ext>
        </p:extLst>
      </p:sp>
      <p:sp>
        <p:nvSpPr>
          <p:cNvPr id="15" name="TextBox 15"/>
          <p:cNvSpPr txBox="1"/>
          <p:nvPr/>
        </p:nvSpPr>
        <p:spPr>
          <a:xfrm rot="0">
            <a:off x="863500" y="4598338"/>
            <a:ext cx="3313333" cy="1502926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以存储物资数量和规格为基础进行统筹规划，在满足快速响应的前提下实现仓储成本最小化和管理高效化。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eyJfdGVtcGxhdGVEYXRhIjp7ImNvbnRlbnRUeXBlIjoiJGl0ZW0zX2MiLCJsaW5lQ291bnQiOiI0Iiwid29yZENvdW50IjoiMTUifSwidGFnIjoiJGl0ZW0zX2MifQ==</bd:templateData>
          </p:ext>
        </p:extLst>
      </p:sp>
      <p:sp>
        <p:nvSpPr>
          <p:cNvPr id="16" name="TextBox 16"/>
          <p:cNvSpPr txBox="1"/>
          <p:nvPr/>
        </p:nvSpPr>
        <p:spPr>
          <a:xfrm rot="0">
            <a:off x="7983514" y="1781391"/>
            <a:ext cx="3313333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数字化运维管理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eyJfdGVtcGxhdGVEYXRhIjp7ImNvbnRlbnRUeXBlIjoiJGl0ZW0yX3RpdGxlIiwibGluZUNvdW50IjoiMSIsIndvcmRDb3VudCI6IjExIn0sInRhZyI6IiRpdGVtMl90aXRsZSJ9</bd:templateData>
          </p:ext>
        </p:extLst>
      </p:sp>
      <p:sp>
        <p:nvSpPr>
          <p:cNvPr id="17" name="TextBox 17"/>
          <p:cNvSpPr txBox="1"/>
          <p:nvPr/>
        </p:nvSpPr>
        <p:spPr>
          <a:xfrm rot="0">
            <a:off x="7983514" y="2199144"/>
            <a:ext cx="3313333" cy="1442222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通过智能运维平台统筹录入所有仓储物资信息，实现数据共享，自动提示保养周期、推送维护任务，并生成物资分析报告。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eyJfdGVtcGxhdGVEYXRhIjp7ImNvbnRlbnRUeXBlIjoiJGl0ZW0yX2MiLCJsaW5lQ291bnQiOiI0Iiwid29yZENvdW50IjoiMTUifSwidGFnIjoiJGl0ZW0yX2MifQ==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 rot="0">
            <a:off x="7983514" y="4188059"/>
            <a:ext cx="3313333" cy="490334"/>
          </a:xfrm>
          <a:prstGeom prst="rect">
            <a:avLst/>
          </a:prstGeom>
          <a:ln/>
        </p:spPr>
        <p:txBody>
          <a:bodyPr anchor="ctr" anchorCtr="0" bIns="33052" lIns="66008" rIns="66008" rtlCol="0" tIns="33052" vert="horz" wrap="square">
            <a:normAutofit/>
          </a:bodyPr>
          <a:lstStyle/>
          <a:p>
            <a:pPr algn="l">
              <a:lnSpc>
                <a:spcPct val="120000"/>
              </a:lnSpc>
            </a:pPr>
            <a:r>
              <a:rPr b="1" lang="en-US" sz="20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多系统协同运作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eyJfdGVtcGxhdGVEYXRhIjp7ImNvbnRlbnRUeXBlIjoiJGl0ZW00X3RpdGxlIiwibGluZUNvdW50IjoiMSIsIndvcmRDb3VudCI6IjExIn0sInRhZyI6IiRpdGVtNF90aXRsZSJ9</bd:templateData>
          </p:ext>
        </p:extLst>
      </p:sp>
      <p:sp>
        <p:nvSpPr>
          <p:cNvPr id="19" name="TextBox 19"/>
          <p:cNvSpPr txBox="1"/>
          <p:nvPr/>
        </p:nvSpPr>
        <p:spPr>
          <a:xfrm rot="0">
            <a:off x="7983514" y="4605812"/>
            <a:ext cx="3313333" cy="1556154"/>
          </a:xfrm>
          <a:prstGeom prst="rect">
            <a:avLst/>
          </a:prstGeom>
          <a:ln/>
        </p:spPr>
        <p:txBody>
          <a:bodyPr anchor="t" anchorCtr="0" bIns="33052" lIns="66008" rIns="66008" rtlCol="0" tIns="33052" vert="horz" wrap="square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实现自动导引运输车、无人叉车、堆垛机等设备间的指令互通与任务协同，形成"一令即动、一图可视、一网管控"的智能运行体系。</a:t>
            </a:r>
          </a:p>
        </p:txBody>
        <p:extLst>
          <p:ext uri="http://schemas.baidu.com/office/drawing/2023/templateData">
            <bd:templateData xmlns:bd="http://schemas.baidu.com/office/drawing/2023/templateData">eyJfdGVtcGxhdGVEYXRhIjp7ImNvbnRlbnRUeXBlIjoiJGl0ZW00X2MiLCJsaW5lQ291bnQiOiI0Iiwid29yZENvdW50IjoiMTUifSwidGFnIjoiJGl0ZW00X2MifQ==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>eyJtZCI6IiMjIOWItumAoOS4muaZuuiDveWCqOi/kFxuIyMjIOWFqOa1geeoi+iHquWKqOWMluS9nOS4mlxu6YeH55So5pm66IO95LuT5YKo57O757uf6ZuG5oiQ6Ieq5Yqo5YyW6K6+5aSH77yM6J6N5ZCINUfjgIFSRklE562J5oqA5pyv77yM5a6e546w54mp6LWE6Ieq5Yqo5YWl5bqT44CB5a2Y5YKo44CB5Ye65bqT44CB55uY54K55ZKM5YiG5ouj55qE5pm66IO95YyW5L2c5Lia5qih5byP44CCXG4jIyMg5pWw5a2X5YyW6L+Q57u0566h55CGXG7pgJrov4fmmbrog73ov5Dnu7TlubPlj7Dnu5/nrbnlvZXlhaXmiYDmnInku5PlgqjnianotYTkv6Hmga/vvIzlrp7njrDmlbDmja7lhbHkuqvvvIzoh6rliqjmj5DnpLrkv53lhbvlkajmnJ/jgIHmjqjpgIHnu7TmiqTku7vliqHvvIzlubbnlJ/miJDnianotYTliIbmnpDmiqXlkYrjgIJcbiMjIyDmiJDmnKzkvJjljJborr7orqFcbuS7peWtmOWCqOeJqei1hOaVsOmHj+WSjOinhOagvOS4uuWfuuehgOi/m+ihjOe7n+etueinhOWIku+8jOWcqOa7oei2s+W/q+mAn+WTjeW6lOeahOWJjeaPkOS4i+WunueOsOS7k+WCqOaIkOacrOacgOWwj+WMluWSjOeuoeeQhumrmOaViOWMluOAglxuIyMjIOWkmuezu+e7n+WNj+WQjOi/kOS9nFxu5a6e546w6Ieq5Yqo5a+85byV6L+Q6L6T6L2m44CB5peg5Lq65Y+J6L2m44CB5aCG5Z6b5py6562J6K6+5aSH6Ze055qE5oyH5Luk5LqS6YCa5LiO5Lu75Yqh5Y2P5ZCM77yM5b2i5oiQXCLkuIDku6TljbPliqjjgIHkuIDlm77lj6/op4bjgIHkuIDnvZHnrqHmjqdcIueahOaZuuiDvei/kOihjOS9k+ezu+OAgiIsInRwbGlkIjoiMTAyNDg1IiwidHBsTmFtZSI6Imxpc3Q0X0ltZ2ttMjQwMzEyMDIiLCJlZGl0ZWQiOiJmYWxzZSJ9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4F9FF"/>
      </a:lt1>
      <a:dk2>
        <a:srgbClr val="002F40"/>
      </a:dk2>
      <a:lt2>
        <a:srgbClr val="FFFFFF"/>
      </a:lt2>
      <a:accent1>
        <a:srgbClr val="4588DA"/>
      </a:accent1>
      <a:accent2>
        <a:srgbClr val="4588DA"/>
      </a:accent2>
      <a:accent3>
        <a:srgbClr val="2F77CE"/>
      </a:accent3>
      <a:accent4>
        <a:srgbClr val="FEB83A"/>
      </a:accent4>
      <a:accent5>
        <a:srgbClr val="0E52A5"/>
      </a:accent5>
      <a:accent6>
        <a:srgbClr val="084692"/>
      </a:accent6>
      <a:hlink>
        <a:srgbClr val="0563C1"/>
      </a:hlink>
      <a:folHlink>
        <a:srgbClr val="954F72"/>
      </a:folHlink>
    </a:clrScheme>
    <a:fontScheme name="Office">
      <a:majorFont>
        <a:latin panose="020F0302020204030204"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0F0502020204030204"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62F939B6-93AF-4DB8-9C6B-D6C7DFDC589F}" name="Office Theme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baseType="variant" size="6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baseType="lpstr" size="4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2025-10-20T11:38:53Z</dcterms:created>
  <dc:creator>zhangqishou</dc:creator>
  <cp:lastModifiedBy>zhangqishou</cp:lastModifiedBy>
  <dcterms:modified xsi:type="dcterms:W3CDTF">2025-10-20T12:04:35Z</dcterms:modified>
  <cp:revision>2</cp:revision>
  <dc:title>PowerPoint 演示文稿</dc:title>
</cp:coreProperties>
</file>